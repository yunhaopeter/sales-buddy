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08976579984e1b" /><Relationship Type="http://schemas.openxmlformats.org/officeDocument/2006/relationships/extended-properties" Target="/docProps/app.xml" Id="Ra1f349e3d7da47b4" /><Relationship Type="http://schemas.openxmlformats.org/officeDocument/2006/relationships/officeDocument" Target="/ppt/presentation.xml" Id="R332c85cc07814f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203946019b4410"/>
  </p:sldMasterIdLst>
  <p:notesMasterIdLst>
    <p:notesMasterId xmlns:r="http://schemas.openxmlformats.org/officeDocument/2006/relationships" r:id="Rc05212f159cf4a0a"/>
  </p:notesMasterIdLst>
  <p:sldIdLst>
    <p:sldId xmlns:r="http://schemas.openxmlformats.org/officeDocument/2006/relationships" id="256" r:id="R5042454848614b73"/>
    <p:sldId xmlns:r="http://schemas.openxmlformats.org/officeDocument/2006/relationships" id="257" r:id="R4993512b7ae44bb5"/>
    <p:sldId xmlns:r="http://schemas.openxmlformats.org/officeDocument/2006/relationships" id="258" r:id="R2385c7cb4742436b"/>
    <p:sldId xmlns:r="http://schemas.openxmlformats.org/officeDocument/2006/relationships" id="259" r:id="R97ba8926202846c6"/>
    <p:sldId xmlns:r="http://schemas.openxmlformats.org/officeDocument/2006/relationships" id="260" r:id="R2e78d9f679a34b4c"/>
    <p:sldId xmlns:r="http://schemas.openxmlformats.org/officeDocument/2006/relationships" id="261" r:id="R525474e826244700"/>
    <p:sldId xmlns:r="http://schemas.openxmlformats.org/officeDocument/2006/relationships" id="262" r:id="Rf01167da5bf147e2"/>
    <p:sldId xmlns:r="http://schemas.openxmlformats.org/officeDocument/2006/relationships" id="263" r:id="Rbe334010bd7247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237f1b72ec4217" /><Relationship Type="http://schemas.openxmlformats.org/officeDocument/2006/relationships/slideMaster" Target="/ppt/slideMasters/slideMaster1.xml" Id="R81203946019b4410" /><Relationship Type="http://schemas.openxmlformats.org/officeDocument/2006/relationships/notesMaster" Target="/ppt/notesMasters/notesMaster1.xml" Id="Rc05212f159cf4a0a" /><Relationship Type="http://schemas.openxmlformats.org/officeDocument/2006/relationships/presProps" Target="/ppt/presProps.xml" Id="R0b1b86fc59b4446f" /><Relationship Type="http://schemas.openxmlformats.org/officeDocument/2006/relationships/tableStyles" Target="/ppt/tableStyles.xml" Id="R2cab1fc1a2a24a11" /><Relationship Type="http://schemas.openxmlformats.org/officeDocument/2006/relationships/slide" Target="/ppt/slides/slide1.xml" Id="R5042454848614b73" /><Relationship Type="http://schemas.openxmlformats.org/officeDocument/2006/relationships/slide" Target="/ppt/slides/slide2.xml" Id="R4993512b7ae44bb5" /><Relationship Type="http://schemas.openxmlformats.org/officeDocument/2006/relationships/slide" Target="/ppt/slides/slide3.xml" Id="R2385c7cb4742436b" /><Relationship Type="http://schemas.openxmlformats.org/officeDocument/2006/relationships/slide" Target="/ppt/slides/slide4.xml" Id="R97ba8926202846c6" /><Relationship Type="http://schemas.openxmlformats.org/officeDocument/2006/relationships/slide" Target="/ppt/slides/slide5.xml" Id="R2e78d9f679a34b4c" /><Relationship Type="http://schemas.openxmlformats.org/officeDocument/2006/relationships/slide" Target="/ppt/slides/slide6.xml" Id="R525474e826244700" /><Relationship Type="http://schemas.openxmlformats.org/officeDocument/2006/relationships/slide" Target="/ppt/slides/slide7.xml" Id="Rf01167da5bf147e2" /><Relationship Type="http://schemas.openxmlformats.org/officeDocument/2006/relationships/slide" Target="/ppt/slides/slide8.xml" Id="Rbe334010bd7247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56dfceb14346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78bbd8793f4237" /><Relationship Type="http://schemas.openxmlformats.org/officeDocument/2006/relationships/notesMaster" Target="/ppt/notesMasters/notesMaster1.xml" Id="R4332f09b235544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1e4da28dfd4cf7" /><Relationship Type="http://schemas.openxmlformats.org/officeDocument/2006/relationships/notesMaster" Target="/ppt/notesMasters/notesMaster1.xml" Id="R558082ec225848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901ae5328a40c7" /><Relationship Type="http://schemas.openxmlformats.org/officeDocument/2006/relationships/notesMaster" Target="/ppt/notesMasters/notesMaster1.xml" Id="R5ef799f656d340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14b13f281e4cd6" /><Relationship Type="http://schemas.openxmlformats.org/officeDocument/2006/relationships/notesMaster" Target="/ppt/notesMasters/notesMaster1.xml" Id="Rdbc18789d31e4c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2613d02ff04f76" /><Relationship Type="http://schemas.openxmlformats.org/officeDocument/2006/relationships/notesMaster" Target="/ppt/notesMasters/notesMaster1.xml" Id="R66c7dd2c4bbe4a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9b5d300b4842a4" /><Relationship Type="http://schemas.openxmlformats.org/officeDocument/2006/relationships/notesMaster" Target="/ppt/notesMasters/notesMaster1.xml" Id="R16368e10701d4b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80921bd26e41c9" /><Relationship Type="http://schemas.openxmlformats.org/officeDocument/2006/relationships/notesMaster" Target="/ppt/notesMasters/notesMaster1.xml" Id="R2dee56ba0b9c42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dc29567cfc493e" /><Relationship Type="http://schemas.openxmlformats.org/officeDocument/2006/relationships/notesMaster" Target="/ppt/notesMasters/notesMaster1.xml" Id="R5eee3bc9dc2948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IEA · Batteries and Secure Energy Transitions</a:t>
            </a:r>
          </a:p>
          <a:p xmlns:a="http://schemas.openxmlformats.org/drawingml/2006/main">
            <a:r>
              <a:t>https://www.iea.org/reports/batteries-and-secure-energy-transitions/executive-summary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IEA · Batteries and Secure Energy Transitions</a:t>
            </a:r>
          </a:p>
          <a:p xmlns:a="http://schemas.openxmlformats.org/drawingml/2006/main">
            <a:r>
              <a:t>https://www.iea.org/reports/batteries-and-secure-energy-transitions/executive-summary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IEA · Batteries and Secure Energy Transitions</a:t>
            </a:r>
          </a:p>
          <a:p xmlns:a="http://schemas.openxmlformats.org/drawingml/2006/main">
            <a:r>
              <a:t>https://www.iea.org/reports/batteries-and-secure-energy-transitions/executive-summary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IEA · Batteries and Secure Energy Transitions</a:t>
            </a:r>
          </a:p>
          <a:p xmlns:a="http://schemas.openxmlformats.org/drawingml/2006/main">
            <a:r>
              <a:t>https://www.iea.org/reports/batteries-and-secure-energy-transitions/executive-summary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IEA · Batteries and Secure Energy Transitions</a:t>
            </a:r>
          </a:p>
          <a:p xmlns:a="http://schemas.openxmlformats.org/drawingml/2006/main">
            <a:r>
              <a:t>https://www.iea.org/reports/batteries-and-secure-energy-transitions/executive-summary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IEA · Batteries and Secure Energy Transitions</a:t>
            </a:r>
          </a:p>
          <a:p xmlns:a="http://schemas.openxmlformats.org/drawingml/2006/main">
            <a:r>
              <a:t>https://www.iea.org/reports/batteries-and-secure-energy-transitions/executive-summary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IEA · Batteries and Secure Energy Transitions</a:t>
            </a:r>
          </a:p>
          <a:p xmlns:a="http://schemas.openxmlformats.org/drawingml/2006/main">
            <a:r>
              <a:t>https://www.iea.org/reports/batteries-and-secure-energy-transitions/executive-summary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IEA · Batteries and Secure Energy Transitions</a:t>
            </a:r>
          </a:p>
          <a:p xmlns:a="http://schemas.openxmlformats.org/drawingml/2006/main">
            <a:r>
              <a:t>https://www.iea.org/reports/batteries-and-secure-energy-transitions/executive-summary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c4ccebd3549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be80617fa4f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dfbf34a6e84d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96ecffed0549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e46e1ee8b643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63090295f49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C6CEE2-E806-4EBF-B3C6-6F18EF5103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93471E-EB70-49E5-8038-7F88545D275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AE08B8A-DC33-4EA6-867B-4E96456522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8CE193-2FF7-4CD6-A140-00A77F97AE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B4189F5-375A-4732-976E-7484FBA705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78105F-FAC7-48C1-A81D-9ABF07414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C5DC38-AAAC-478E-832E-68C9E4053E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1F807CC-E46E-43FD-A4AC-8185595588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73E15F-95DD-43FF-AD95-12A661D9A3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E4FBD2-C2A6-4C6F-A8DD-CF3E8B6734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ab3bfe0af945e3" /><Relationship Type="http://schemas.openxmlformats.org/officeDocument/2006/relationships/slideLayout" Target="/ppt/slideLayouts/slideLayout1.xml" Id="Rb2bb538a662d4e21" /><Relationship Type="http://schemas.openxmlformats.org/officeDocument/2006/relationships/slideLayout" Target="/ppt/slideLayouts/slideLayout2.xml" Id="R11e9730af22e4d92" /><Relationship Type="http://schemas.openxmlformats.org/officeDocument/2006/relationships/slideLayout" Target="/ppt/slideLayouts/slideLayout3.xml" Id="Ra79837ff86d04262" /><Relationship Type="http://schemas.openxmlformats.org/officeDocument/2006/relationships/slideLayout" Target="/ppt/slideLayouts/slideLayout4.xml" Id="R6c7b5df815ed43c5" /><Relationship Type="http://schemas.openxmlformats.org/officeDocument/2006/relationships/slideLayout" Target="/ppt/slideLayouts/slideLayout5.xml" Id="R9dd73786b6b24380" /><Relationship Type="http://schemas.openxmlformats.org/officeDocument/2006/relationships/slideLayout" Target="/ppt/slideLayouts/slideLayout6.xml" Id="Rbb5926bc68f84c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bb538a662d4e21"/>
    <p:sldLayoutId xmlns:r="http://schemas.openxmlformats.org/officeDocument/2006/relationships" id="2147483650" r:id="R11e9730af22e4d92"/>
    <p:sldLayoutId xmlns:r="http://schemas.openxmlformats.org/officeDocument/2006/relationships" id="2147483651" r:id="Ra79837ff86d04262"/>
    <p:sldLayoutId xmlns:r="http://schemas.openxmlformats.org/officeDocument/2006/relationships" id="2147483652" r:id="R6c7b5df815ed43c5"/>
    <p:sldLayoutId xmlns:r="http://schemas.openxmlformats.org/officeDocument/2006/relationships" id="2147483653" r:id="R9dd73786b6b24380"/>
    <p:sldLayoutId xmlns:r="http://schemas.openxmlformats.org/officeDocument/2006/relationships" id="2147483654" r:id="Rbb5926bc68f84c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440bcca04540ee" /><Relationship Type="http://schemas.openxmlformats.org/officeDocument/2006/relationships/notesSlide" Target="/ppt/notesSlides/notesSlide1.xml" Id="Rcaac1f820d9c40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151a3ac9664636" /><Relationship Type="http://schemas.openxmlformats.org/officeDocument/2006/relationships/notesSlide" Target="/ppt/notesSlides/notesSlide2.xml" Id="R16941c83ce324f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2a31379d1b4480" /><Relationship Type="http://schemas.openxmlformats.org/officeDocument/2006/relationships/notesSlide" Target="/ppt/notesSlides/notesSlide3.xml" Id="R177011221eee4c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063fb8a83b4a91" /><Relationship Type="http://schemas.openxmlformats.org/officeDocument/2006/relationships/notesSlide" Target="/ppt/notesSlides/notesSlide4.xml" Id="Ref3a53dd7fb740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12c1ae19b049e6" /><Relationship Type="http://schemas.openxmlformats.org/officeDocument/2006/relationships/notesSlide" Target="/ppt/notesSlides/notesSlide5.xml" Id="R27ae702ea5ba48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4da17f4dc0468e" /><Relationship Type="http://schemas.openxmlformats.org/officeDocument/2006/relationships/notesSlide" Target="/ppt/notesSlides/notesSlide6.xml" Id="R2db33449f4e44f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381c1ac70d4008" /><Relationship Type="http://schemas.openxmlformats.org/officeDocument/2006/relationships/notesSlide" Target="/ppt/notesSlides/notesSlide7.xml" Id="Rfe2ff128884746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b973fcbbaa4450" /><Relationship Type="http://schemas.openxmlformats.org/officeDocument/2006/relationships/notesSlide" Target="/ppt/notesSlides/notesSlide8.xml" Id="R24ec8237d53a45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NERGY STORAGE · MEETING BRIEF">
            <a:extLst xmlns:a="http://schemas.openxmlformats.org/drawingml/2006/main">
              <a:ext uri="{FF2B5EF4-FFF2-40B4-BE49-F238E27FC236}">
                <a16:creationId xmlns:a16="http://schemas.microsoft.com/office/drawing/2014/main" id="{1A6DB22F-153F-416A-AFBB-BAD4929D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B9FC"/>
                </a:solidFill>
                <a:latin typeface="Arial"/>
                <a:ea typeface="Arial"/>
                <a:cs typeface="Arial"/>
              </a:rPr>
              <a:t>ENERGY STORAGE · MEETING BRIEF</a:t>
            </a:r>
          </a:p>
        </p:txBody>
      </p:sp>
      <p:sp>
        <p:nvSpPr>
          <p:cNvPr id="2" name="Energy storage customer introductio">
            <a:extLst xmlns:a="http://schemas.openxmlformats.org/drawingml/2006/main">
              <a:ext uri="{FF2B5EF4-FFF2-40B4-BE49-F238E27FC236}">
                <a16:creationId xmlns:a16="http://schemas.microsoft.com/office/drawing/2014/main" id="{9D4B6959-1F9F-4FFE-8D3B-66961651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 storage customer introduction</a:t>
            </a:r>
          </a:p>
        </p:txBody>
      </p:sp>
      <p:sp>
        <p:nvSpPr>
          <p:cNvPr id="3" name="Customer meeting reference material">
            <a:extLst xmlns:a="http://schemas.openxmlformats.org/drawingml/2006/main">
              <a:ext uri="{FF2B5EF4-FFF2-40B4-BE49-F238E27FC236}">
                <a16:creationId xmlns:a16="http://schemas.microsoft.com/office/drawing/2014/main" id="{680240EB-BFC5-4BCA-A57C-2ED43B88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Customer meeting reference material</a:t>
            </a:r>
          </a:p>
        </p:txBody>
      </p:sp>
      <p:sp>
        <p:nvSpPr>
          <p:cNvPr id="4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42327BC6-3C26-49EA-AB39-6A5992B7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5A0561D2-864A-422D-8984-2EAE18AA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551929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2A156176-372D-45D2-A8B3-ECEE4DB5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Customer priorities">
            <a:extLst xmlns:a="http://schemas.openxmlformats.org/drawingml/2006/main">
              <a:ext uri="{FF2B5EF4-FFF2-40B4-BE49-F238E27FC236}">
                <a16:creationId xmlns:a16="http://schemas.microsoft.com/office/drawing/2014/main" id="{8E92A6F1-C021-4C90-A624-3FA55C47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Customer priorities</a:t>
            </a:r>
          </a:p>
        </p:txBody>
      </p:sp>
      <p:sp>
        <p:nvSpPr>
          <p:cNvPr id="3" name="• Renewable integration and operati">
            <a:extLst xmlns:a="http://schemas.openxmlformats.org/drawingml/2006/main">
              <a:ext uri="{FF2B5EF4-FFF2-40B4-BE49-F238E27FC236}">
                <a16:creationId xmlns:a16="http://schemas.microsoft.com/office/drawing/2014/main" id="{326D6D71-0C2B-4AC9-810D-60AF12FB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Renewable integration and operating flexibility</a:t>
            </a:r>
          </a:p>
        </p:txBody>
      </p:sp>
      <p:sp>
        <p:nvSpPr>
          <p:cNvPr id="4" name="• Customer requirements define the ">
            <a:extLst xmlns:a="http://schemas.openxmlformats.org/drawingml/2006/main">
              <a:ext uri="{FF2B5EF4-FFF2-40B4-BE49-F238E27FC236}">
                <a16:creationId xmlns:a16="http://schemas.microsoft.com/office/drawing/2014/main" id="{ED5F3391-6142-4364-AB3D-24802B23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Customer requirements define the project scope</a:t>
            </a:r>
          </a:p>
        </p:txBody>
      </p:sp>
      <p:sp>
        <p:nvSpPr>
          <p:cNvPr id="5" name="• The next step is a joint needs di">
            <a:extLst xmlns:a="http://schemas.openxmlformats.org/drawingml/2006/main">
              <a:ext uri="{FF2B5EF4-FFF2-40B4-BE49-F238E27FC236}">
                <a16:creationId xmlns:a16="http://schemas.microsoft.com/office/drawing/2014/main" id="{AD80391D-2078-4B6B-B9DE-D829768E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The next step is a joint needs discussion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0AE0321A-2D17-40D9-ADE4-F9ED800A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9C1D186C-9AAA-41C6-A0D0-C40E5E2E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525698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4419BD25-6E2C-48DA-943A-4FE8E4C1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Application scenarios">
            <a:extLst xmlns:a="http://schemas.openxmlformats.org/drawingml/2006/main">
              <a:ext uri="{FF2B5EF4-FFF2-40B4-BE49-F238E27FC236}">
                <a16:creationId xmlns:a16="http://schemas.microsoft.com/office/drawing/2014/main" id="{6028EEA3-6112-4D46-B847-22E9D904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Application scenarios</a:t>
            </a:r>
          </a:p>
        </p:txBody>
      </p:sp>
      <p:sp>
        <p:nvSpPr>
          <p:cNvPr id="3" name="• Grid connected projects">
            <a:extLst xmlns:a="http://schemas.openxmlformats.org/drawingml/2006/main">
              <a:ext uri="{FF2B5EF4-FFF2-40B4-BE49-F238E27FC236}">
                <a16:creationId xmlns:a16="http://schemas.microsoft.com/office/drawing/2014/main" id="{F14B8629-6955-4B2F-8E01-F9FED0A5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Grid connected projects</a:t>
            </a:r>
          </a:p>
        </p:txBody>
      </p:sp>
      <p:sp>
        <p:nvSpPr>
          <p:cNvPr id="4" name="• Behind the meter facilities">
            <a:extLst xmlns:a="http://schemas.openxmlformats.org/drawingml/2006/main">
              <a:ext uri="{FF2B5EF4-FFF2-40B4-BE49-F238E27FC236}">
                <a16:creationId xmlns:a16="http://schemas.microsoft.com/office/drawing/2014/main" id="{C321F62C-D2A5-4816-A127-AB6B0DC7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Behind the meter facilities</a:t>
            </a:r>
          </a:p>
        </p:txBody>
      </p:sp>
      <p:sp>
        <p:nvSpPr>
          <p:cNvPr id="5" name="• Microgrids and resilience require">
            <a:extLst xmlns:a="http://schemas.openxmlformats.org/drawingml/2006/main">
              <a:ext uri="{FF2B5EF4-FFF2-40B4-BE49-F238E27FC236}">
                <a16:creationId xmlns:a16="http://schemas.microsoft.com/office/drawing/2014/main" id="{9549D85A-70CF-455E-9924-A043A0B3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Microgrids and resilience requirements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8156D203-25A6-4196-8C97-DB823B08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3">
            <a:extLst xmlns:a="http://schemas.openxmlformats.org/drawingml/2006/main">
              <a:ext uri="{FF2B5EF4-FFF2-40B4-BE49-F238E27FC236}">
                <a16:creationId xmlns:a16="http://schemas.microsoft.com/office/drawing/2014/main" id="{6699FF9F-267E-4FAE-A4A2-903A606C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363358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A0CEAAA6-4544-4D21-B05A-D3B63187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Project stakeholders">
            <a:extLst xmlns:a="http://schemas.openxmlformats.org/drawingml/2006/main">
              <a:ext uri="{FF2B5EF4-FFF2-40B4-BE49-F238E27FC236}">
                <a16:creationId xmlns:a16="http://schemas.microsoft.com/office/drawing/2014/main" id="{4E56FB44-46FC-443D-8995-ED508A25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Project stakeholders</a:t>
            </a:r>
          </a:p>
        </p:txBody>
      </p:sp>
      <p:sp>
        <p:nvSpPr>
          <p:cNvPr id="3" name="Discussion focus">
            <a:extLst xmlns:a="http://schemas.openxmlformats.org/drawingml/2006/main">
              <a:ext uri="{FF2B5EF4-FFF2-40B4-BE49-F238E27FC236}">
                <a16:creationId xmlns:a16="http://schemas.microsoft.com/office/drawing/2014/main" id="{7A0DBC8A-6B35-4AF2-B89A-F319E1D2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focus</a:t>
            </a:r>
          </a:p>
        </p:txBody>
      </p:sp>
      <p:sp>
        <p:nvSpPr>
          <p:cNvPr id="4" name="• Identify the asset owner and cont">
            <a:extLst xmlns:a="http://schemas.openxmlformats.org/drawingml/2006/main">
              <a:ext uri="{FF2B5EF4-FFF2-40B4-BE49-F238E27FC236}">
                <a16:creationId xmlns:a16="http://schemas.microsoft.com/office/drawing/2014/main" id="{DA83F834-50C9-4F9C-9BE6-5637E56B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Identify the asset owner and contract customer</a:t>
            </a:r>
          </a:p>
        </p:txBody>
      </p:sp>
      <p:sp>
        <p:nvSpPr>
          <p:cNvPr id="5" name="• Understand technical and purchasi">
            <a:extLst xmlns:a="http://schemas.openxmlformats.org/drawingml/2006/main">
              <a:ext uri="{FF2B5EF4-FFF2-40B4-BE49-F238E27FC236}">
                <a16:creationId xmlns:a16="http://schemas.microsoft.com/office/drawing/2014/main" id="{8C6207A3-F588-42F4-AED3-74042D0E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Understand technical and purchasing roles</a:t>
            </a:r>
          </a:p>
        </p:txBody>
      </p:sp>
      <p:sp>
        <p:nvSpPr>
          <p:cNvPr id="6" name="Customer confirmation">
            <a:extLst xmlns:a="http://schemas.openxmlformats.org/drawingml/2006/main">
              <a:ext uri="{FF2B5EF4-FFF2-40B4-BE49-F238E27FC236}">
                <a16:creationId xmlns:a16="http://schemas.microsoft.com/office/drawing/2014/main" id="{04439132-2CEC-4985-BC98-6C8A47BE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Customer confirmation</a:t>
            </a:r>
          </a:p>
        </p:txBody>
      </p:sp>
      <p:sp>
        <p:nvSpPr>
          <p:cNvPr id="7" name="• Confirm who owns the next decisio">
            <a:extLst xmlns:a="http://schemas.openxmlformats.org/drawingml/2006/main">
              <a:ext uri="{FF2B5EF4-FFF2-40B4-BE49-F238E27FC236}">
                <a16:creationId xmlns:a16="http://schemas.microsoft.com/office/drawing/2014/main" id="{2C68842A-C028-4B6D-82ED-3A49CD99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who owns the next decision</a:t>
            </a:r>
          </a:p>
        </p:txBody>
      </p:sp>
      <p:sp>
        <p:nvSpPr>
          <p:cNvPr id="8" name="• Record unresolved items and owner">
            <a:extLst xmlns:a="http://schemas.openxmlformats.org/drawingml/2006/main">
              <a:ext uri="{FF2B5EF4-FFF2-40B4-BE49-F238E27FC236}">
                <a16:creationId xmlns:a16="http://schemas.microsoft.com/office/drawing/2014/main" id="{FAA3119D-14DE-4896-8FD1-B3017D32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Record unresolved items and owners</a:t>
            </a:r>
          </a:p>
        </p:txBody>
      </p:sp>
      <p:sp>
        <p:nvSpPr>
          <p:cNvPr id="9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56AEBD60-6EFE-4376-B5E0-321D9674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10" name="4">
            <a:extLst xmlns:a="http://schemas.openxmlformats.org/drawingml/2006/main">
              <a:ext uri="{FF2B5EF4-FFF2-40B4-BE49-F238E27FC236}">
                <a16:creationId xmlns:a16="http://schemas.microsoft.com/office/drawing/2014/main" id="{A438FDBA-E7E3-454B-BC2C-FD70A7BD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3412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988659B7-4C53-4C46-A04C-95EC308E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Scope of the discussion">
            <a:extLst xmlns:a="http://schemas.openxmlformats.org/drawingml/2006/main">
              <a:ext uri="{FF2B5EF4-FFF2-40B4-BE49-F238E27FC236}">
                <a16:creationId xmlns:a16="http://schemas.microsoft.com/office/drawing/2014/main" id="{0899500A-6B65-4B11-9CE9-D63BE1D3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Scope of the discussion</a:t>
            </a:r>
          </a:p>
        </p:txBody>
      </p:sp>
      <p:sp>
        <p:nvSpPr>
          <p:cNvPr id="3" name="• System boundaries and site interf">
            <a:extLst xmlns:a="http://schemas.openxmlformats.org/drawingml/2006/main">
              <a:ext uri="{FF2B5EF4-FFF2-40B4-BE49-F238E27FC236}">
                <a16:creationId xmlns:a16="http://schemas.microsoft.com/office/drawing/2014/main" id="{98BA7B0C-BB2E-4C83-955A-C03E048B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System boundaries and site interfaces</a:t>
            </a:r>
          </a:p>
        </p:txBody>
      </p:sp>
      <p:sp>
        <p:nvSpPr>
          <p:cNvPr id="4" name="• Responsibilities during project d">
            <a:extLst xmlns:a="http://schemas.openxmlformats.org/drawingml/2006/main">
              <a:ext uri="{FF2B5EF4-FFF2-40B4-BE49-F238E27FC236}">
                <a16:creationId xmlns:a16="http://schemas.microsoft.com/office/drawing/2014/main" id="{BCD06826-2986-482C-BADE-EBD50E31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Responsibilities during project delivery</a:t>
            </a:r>
          </a:p>
        </p:txBody>
      </p:sp>
      <p:sp>
        <p:nvSpPr>
          <p:cNvPr id="5" name="• Service needs over the operating ">
            <a:extLst xmlns:a="http://schemas.openxmlformats.org/drawingml/2006/main">
              <a:ext uri="{FF2B5EF4-FFF2-40B4-BE49-F238E27FC236}">
                <a16:creationId xmlns:a16="http://schemas.microsoft.com/office/drawing/2014/main" id="{BD3FF10B-5471-400A-ADCC-D9B9F253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Service needs over the operating life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5A2D1565-BBAD-4115-AAEF-5DA25A6D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5">
            <a:extLst xmlns:a="http://schemas.openxmlformats.org/drawingml/2006/main">
              <a:ext uri="{FF2B5EF4-FFF2-40B4-BE49-F238E27FC236}">
                <a16:creationId xmlns:a16="http://schemas.microsoft.com/office/drawing/2014/main" id="{193E09E7-7057-4893-8E96-D05E41B3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954777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FD33C729-8BBC-4B92-B6F1-AA419F75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Information for the next meeting">
            <a:extLst xmlns:a="http://schemas.openxmlformats.org/drawingml/2006/main">
              <a:ext uri="{FF2B5EF4-FFF2-40B4-BE49-F238E27FC236}">
                <a16:creationId xmlns:a16="http://schemas.microsoft.com/office/drawing/2014/main" id="{2E7FE197-05B4-4151-8915-DBEA73A3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Information for the next meeting</a:t>
            </a:r>
          </a:p>
        </p:txBody>
      </p:sp>
      <p:sp>
        <p:nvSpPr>
          <p:cNvPr id="3" name="• Application objective and operati">
            <a:extLst xmlns:a="http://schemas.openxmlformats.org/drawingml/2006/main">
              <a:ext uri="{FF2B5EF4-FFF2-40B4-BE49-F238E27FC236}">
                <a16:creationId xmlns:a16="http://schemas.microsoft.com/office/drawing/2014/main" id="{FBA6FFD2-D065-4B12-8AD6-5A979216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Application objective and operating constraints</a:t>
            </a:r>
          </a:p>
        </p:txBody>
      </p:sp>
      <p:sp>
        <p:nvSpPr>
          <p:cNvPr id="4" name="• Site and electrical connection in">
            <a:extLst xmlns:a="http://schemas.openxmlformats.org/drawingml/2006/main">
              <a:ext uri="{FF2B5EF4-FFF2-40B4-BE49-F238E27FC236}">
                <a16:creationId xmlns:a16="http://schemas.microsoft.com/office/drawing/2014/main" id="{5BE9528D-01FC-429A-A23F-77FD32F2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Site and electrical connection information</a:t>
            </a:r>
          </a:p>
        </p:txBody>
      </p:sp>
      <p:sp>
        <p:nvSpPr>
          <p:cNvPr id="5" name="• Target milestones and decision pr">
            <a:extLst xmlns:a="http://schemas.openxmlformats.org/drawingml/2006/main">
              <a:ext uri="{FF2B5EF4-FFF2-40B4-BE49-F238E27FC236}">
                <a16:creationId xmlns:a16="http://schemas.microsoft.com/office/drawing/2014/main" id="{A7571D4B-520E-4A76-92A0-F1E3018C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Target milestones and decision process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FE82621D-3445-45A5-B91B-71052281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6">
            <a:extLst xmlns:a="http://schemas.openxmlformats.org/drawingml/2006/main">
              <a:ext uri="{FF2B5EF4-FFF2-40B4-BE49-F238E27FC236}">
                <a16:creationId xmlns:a16="http://schemas.microsoft.com/office/drawing/2014/main" id="{09A1ED3D-80CB-440D-AB59-FEA48967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38931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FF242197-A314-4E47-82CD-1145486A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Open questions">
            <a:extLst xmlns:a="http://schemas.openxmlformats.org/drawingml/2006/main">
              <a:ext uri="{FF2B5EF4-FFF2-40B4-BE49-F238E27FC236}">
                <a16:creationId xmlns:a16="http://schemas.microsoft.com/office/drawing/2014/main" id="{595E3CD7-472B-497F-AA44-1AEB044B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Open questions</a:t>
            </a:r>
          </a:p>
        </p:txBody>
      </p:sp>
      <p:sp>
        <p:nvSpPr>
          <p:cNvPr id="3" name="• Which operating problem matters m">
            <a:extLst xmlns:a="http://schemas.openxmlformats.org/drawingml/2006/main">
              <a:ext uri="{FF2B5EF4-FFF2-40B4-BE49-F238E27FC236}">
                <a16:creationId xmlns:a16="http://schemas.microsoft.com/office/drawing/2014/main" id="{C3808B20-B2D8-4E85-A3A7-0830A130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Which operating problem matters most?</a:t>
            </a:r>
          </a:p>
        </p:txBody>
      </p:sp>
      <p:sp>
        <p:nvSpPr>
          <p:cNvPr id="4" name="• What information has the customer">
            <a:extLst xmlns:a="http://schemas.openxmlformats.org/drawingml/2006/main">
              <a:ext uri="{FF2B5EF4-FFF2-40B4-BE49-F238E27FC236}">
                <a16:creationId xmlns:a16="http://schemas.microsoft.com/office/drawing/2014/main" id="{0B0A0760-CEA1-443E-897B-D678AB1B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What information has the customer confirmed?</a:t>
            </a:r>
          </a:p>
        </p:txBody>
      </p:sp>
      <p:sp>
        <p:nvSpPr>
          <p:cNvPr id="5" name="• Who should join the technical dis">
            <a:extLst xmlns:a="http://schemas.openxmlformats.org/drawingml/2006/main">
              <a:ext uri="{FF2B5EF4-FFF2-40B4-BE49-F238E27FC236}">
                <a16:creationId xmlns:a16="http://schemas.microsoft.com/office/drawing/2014/main" id="{4FAD47F3-7873-4D2E-896B-2ED2A437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Who should join the technical discussion?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4714C6E9-BF60-4DE6-92D6-DCC27384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7">
            <a:extLst xmlns:a="http://schemas.openxmlformats.org/drawingml/2006/main">
              <a:ext uri="{FF2B5EF4-FFF2-40B4-BE49-F238E27FC236}">
                <a16:creationId xmlns:a16="http://schemas.microsoft.com/office/drawing/2014/main" id="{3910D8F1-9877-45BD-A179-FEA4A196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120278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98FAFD82-6CF0-4503-8FF9-277BD961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Discussion and next steps">
            <a:extLst xmlns:a="http://schemas.openxmlformats.org/drawingml/2006/main">
              <a:ext uri="{FF2B5EF4-FFF2-40B4-BE49-F238E27FC236}">
                <a16:creationId xmlns:a16="http://schemas.microsoft.com/office/drawing/2014/main" id="{A98FA72D-0378-4045-A49F-CF5F1BF1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and next steps</a:t>
            </a:r>
          </a:p>
        </p:txBody>
      </p:sp>
      <p:sp>
        <p:nvSpPr>
          <p:cNvPr id="3" name="• Confirm the customer priorities">
            <a:extLst xmlns:a="http://schemas.openxmlformats.org/drawingml/2006/main">
              <a:ext uri="{FF2B5EF4-FFF2-40B4-BE49-F238E27FC236}">
                <a16:creationId xmlns:a16="http://schemas.microsoft.com/office/drawing/2014/main" id="{79DC3F07-9B9B-49B2-9AD7-028E83B7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customer priorities</a:t>
            </a:r>
          </a:p>
        </p:txBody>
      </p:sp>
      <p:sp>
        <p:nvSpPr>
          <p:cNvPr id="4" name="• Agree owners for open questions">
            <a:extLst xmlns:a="http://schemas.openxmlformats.org/drawingml/2006/main">
              <a:ext uri="{FF2B5EF4-FFF2-40B4-BE49-F238E27FC236}">
                <a16:creationId xmlns:a16="http://schemas.microsoft.com/office/drawing/2014/main" id="{5EF808AD-1741-4279-8D74-31C6F445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owners for open questions</a:t>
            </a:r>
          </a:p>
        </p:txBody>
      </p:sp>
      <p:sp>
        <p:nvSpPr>
          <p:cNvPr id="5" name="• Set the next review milestone">
            <a:extLst xmlns:a="http://schemas.openxmlformats.org/drawingml/2006/main">
              <a:ext uri="{FF2B5EF4-FFF2-40B4-BE49-F238E27FC236}">
                <a16:creationId xmlns:a16="http://schemas.microsoft.com/office/drawing/2014/main" id="{EB98F569-3482-4E87-93F5-7210104D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Set the next review milestone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DD9B7924-0D6F-46D2-9002-311980B5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8">
            <a:extLst xmlns:a="http://schemas.openxmlformats.org/drawingml/2006/main">
              <a:ext uri="{FF2B5EF4-FFF2-40B4-BE49-F238E27FC236}">
                <a16:creationId xmlns:a16="http://schemas.microsoft.com/office/drawing/2014/main" id="{0754AE87-F971-4036-BA75-79B473C4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20572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2026-10-25T17:21:10.3000000Z</dcterms:created>
  <dcterms:modified xsi:type="dcterms:W3CDTF">2026-10-25T17:21:10.3000000Z</dcterms:modified>
</coreProperties>
</file>