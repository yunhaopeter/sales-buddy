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b4a1b3334d424a" /><Relationship Type="http://schemas.openxmlformats.org/officeDocument/2006/relationships/extended-properties" Target="/docProps/app.xml" Id="R4454215e962d40b7" /><Relationship Type="http://schemas.openxmlformats.org/officeDocument/2006/relationships/officeDocument" Target="/ppt/presentation.xml" Id="R25a41332adf844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6b93c24e2d4a66"/>
  </p:sldMasterIdLst>
  <p:notesMasterIdLst>
    <p:notesMasterId xmlns:r="http://schemas.openxmlformats.org/officeDocument/2006/relationships" r:id="R6ba6f1d6349e4860"/>
  </p:notesMasterIdLst>
  <p:sldIdLst>
    <p:sldId xmlns:r="http://schemas.openxmlformats.org/officeDocument/2006/relationships" id="256" r:id="R67179ce2dc5d4397"/>
    <p:sldId xmlns:r="http://schemas.openxmlformats.org/officeDocument/2006/relationships" id="257" r:id="R6a732619ada44cee"/>
    <p:sldId xmlns:r="http://schemas.openxmlformats.org/officeDocument/2006/relationships" id="258" r:id="Rf027b50affd04e03"/>
    <p:sldId xmlns:r="http://schemas.openxmlformats.org/officeDocument/2006/relationships" id="259" r:id="Rb46f042a94a5405b"/>
    <p:sldId xmlns:r="http://schemas.openxmlformats.org/officeDocument/2006/relationships" id="260" r:id="R024ee47344124658"/>
    <p:sldId xmlns:r="http://schemas.openxmlformats.org/officeDocument/2006/relationships" id="261" r:id="Rc9d972d24c11413f"/>
    <p:sldId xmlns:r="http://schemas.openxmlformats.org/officeDocument/2006/relationships" id="262" r:id="R723e3a8ca2004a39"/>
    <p:sldId xmlns:r="http://schemas.openxmlformats.org/officeDocument/2006/relationships" id="263" r:id="Rcd7cbb2a9dcc4d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29cff7d4c24796" /><Relationship Type="http://schemas.openxmlformats.org/officeDocument/2006/relationships/slideMaster" Target="/ppt/slideMasters/slideMaster1.xml" Id="Rb06b93c24e2d4a66" /><Relationship Type="http://schemas.openxmlformats.org/officeDocument/2006/relationships/notesMaster" Target="/ppt/notesMasters/notesMaster1.xml" Id="R6ba6f1d6349e4860" /><Relationship Type="http://schemas.openxmlformats.org/officeDocument/2006/relationships/presProps" Target="/ppt/presProps.xml" Id="R02a1c014762d42e6" /><Relationship Type="http://schemas.openxmlformats.org/officeDocument/2006/relationships/tableStyles" Target="/ppt/tableStyles.xml" Id="Re2857f1c123c400c" /><Relationship Type="http://schemas.openxmlformats.org/officeDocument/2006/relationships/slide" Target="/ppt/slides/slide1.xml" Id="R67179ce2dc5d4397" /><Relationship Type="http://schemas.openxmlformats.org/officeDocument/2006/relationships/slide" Target="/ppt/slides/slide2.xml" Id="R6a732619ada44cee" /><Relationship Type="http://schemas.openxmlformats.org/officeDocument/2006/relationships/slide" Target="/ppt/slides/slide3.xml" Id="Rf027b50affd04e03" /><Relationship Type="http://schemas.openxmlformats.org/officeDocument/2006/relationships/slide" Target="/ppt/slides/slide4.xml" Id="Rb46f042a94a5405b" /><Relationship Type="http://schemas.openxmlformats.org/officeDocument/2006/relationships/slide" Target="/ppt/slides/slide5.xml" Id="R024ee47344124658" /><Relationship Type="http://schemas.openxmlformats.org/officeDocument/2006/relationships/slide" Target="/ppt/slides/slide6.xml" Id="Rc9d972d24c11413f" /><Relationship Type="http://schemas.openxmlformats.org/officeDocument/2006/relationships/slide" Target="/ppt/slides/slide7.xml" Id="R723e3a8ca2004a39" /><Relationship Type="http://schemas.openxmlformats.org/officeDocument/2006/relationships/slide" Target="/ppt/slides/slide8.xml" Id="Rcd7cbb2a9dcc4d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c3558b53864e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43b985d7f94c41" /><Relationship Type="http://schemas.openxmlformats.org/officeDocument/2006/relationships/notesMaster" Target="/ppt/notesMasters/notesMaster1.xml" Id="R5b561057d18841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645737d452449f" /><Relationship Type="http://schemas.openxmlformats.org/officeDocument/2006/relationships/notesMaster" Target="/ppt/notesMasters/notesMaster1.xml" Id="R341c46301e5340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63b7fd63f84191" /><Relationship Type="http://schemas.openxmlformats.org/officeDocument/2006/relationships/notesMaster" Target="/ppt/notesMasters/notesMaster1.xml" Id="R2d11bb0993434a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100fab261743a3" /><Relationship Type="http://schemas.openxmlformats.org/officeDocument/2006/relationships/notesMaster" Target="/ppt/notesMasters/notesMaster1.xml" Id="R9e61bd44d37d4d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6965cc8cb54006" /><Relationship Type="http://schemas.openxmlformats.org/officeDocument/2006/relationships/notesMaster" Target="/ppt/notesMasters/notesMaster1.xml" Id="Rd2a814bcfd5242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48f748cc5248fe" /><Relationship Type="http://schemas.openxmlformats.org/officeDocument/2006/relationships/notesMaster" Target="/ppt/notesMasters/notesMaster1.xml" Id="R2dea9af562d04f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aedbaf28f845bc" /><Relationship Type="http://schemas.openxmlformats.org/officeDocument/2006/relationships/notesMaster" Target="/ppt/notesMasters/notesMaster1.xml" Id="R9d09868730fb4f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bd63ce5a91483a" /><Relationship Type="http://schemas.openxmlformats.org/officeDocument/2006/relationships/notesMaster" Target="/ppt/notesMasters/notesMaster1.xml" Id="R52114c611d3f45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PNNL · Analytical Sizing Methods for behind-the-meter Battery Storage</a:t>
            </a:r>
          </a:p>
          <a:p xmlns:a="http://schemas.openxmlformats.org/drawingml/2006/main">
            <a:r>
              <a:t>https://www.pnnl.gov/publications/analytical-sizing-methods-behind-meter-battery-storage</a:t>
            </a:r>
          </a:p>
          <a:p xmlns:a="http://schemas.openxmlformats.org/drawingml/2006/main">
            <a:r>
              <a:t>ARENA · What is battery storage?</a:t>
            </a:r>
          </a:p>
          <a:p xmlns:a="http://schemas.openxmlformats.org/drawingml/2006/main">
            <a:r>
              <a:t>https://arena.gov.au/renewable-energy/battery-storage/</a:t>
            </a:r>
          </a:p>
          <a:p xmlns:a="http://schemas.openxmlformats.org/drawingml/2006/main">
            <a:r>
              <a:t>IEA · The Future of Electricity in the Middle East and North Africa</a:t>
            </a:r>
          </a:p>
          <a:p xmlns:a="http://schemas.openxmlformats.org/drawingml/2006/main">
            <a:r>
              <a:t>https://www.iea.org/reports/the-future-of-electricity-in-the-middle-east-and-north-africa/executive-summary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PNNL · Analytical Sizing Methods for behind-the-meter Battery Storage</a:t>
            </a:r>
          </a:p>
          <a:p xmlns:a="http://schemas.openxmlformats.org/drawingml/2006/main">
            <a:r>
              <a:t>https://www.pnnl.gov/publications/analytical-sizing-methods-behind-meter-battery-storage</a:t>
            </a:r>
          </a:p>
          <a:p xmlns:a="http://schemas.openxmlformats.org/drawingml/2006/main">
            <a:r>
              <a:t>ARENA · What is battery storage?</a:t>
            </a:r>
          </a:p>
          <a:p xmlns:a="http://schemas.openxmlformats.org/drawingml/2006/main">
            <a:r>
              <a:t>https://arena.gov.au/renewable-energy/battery-storage/</a:t>
            </a:r>
          </a:p>
          <a:p xmlns:a="http://schemas.openxmlformats.org/drawingml/2006/main">
            <a:r>
              <a:t>IEA · The Future of Electricity in the Middle East and North Africa</a:t>
            </a:r>
          </a:p>
          <a:p xmlns:a="http://schemas.openxmlformats.org/drawingml/2006/main">
            <a:r>
              <a:t>https://www.iea.org/reports/the-future-of-electricity-in-the-middle-east-and-north-africa/executive-summary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PNNL · Analytical Sizing Methods for behind-the-meter Battery Storage</a:t>
            </a:r>
          </a:p>
          <a:p xmlns:a="http://schemas.openxmlformats.org/drawingml/2006/main">
            <a:r>
              <a:t>https://www.pnnl.gov/publications/analytical-sizing-methods-behind-meter-battery-storage</a:t>
            </a:r>
          </a:p>
          <a:p xmlns:a="http://schemas.openxmlformats.org/drawingml/2006/main">
            <a:r>
              <a:t>ARENA · What is battery storage?</a:t>
            </a:r>
          </a:p>
          <a:p xmlns:a="http://schemas.openxmlformats.org/drawingml/2006/main">
            <a:r>
              <a:t>https://arena.gov.au/renewable-energy/battery-storage/</a:t>
            </a:r>
          </a:p>
          <a:p xmlns:a="http://schemas.openxmlformats.org/drawingml/2006/main">
            <a:r>
              <a:t>IEA · The Future of Electricity in the Middle East and North Africa</a:t>
            </a:r>
          </a:p>
          <a:p xmlns:a="http://schemas.openxmlformats.org/drawingml/2006/main">
            <a:r>
              <a:t>https://www.iea.org/reports/the-future-of-electricity-in-the-middle-east-and-north-africa/executive-summary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PNNL · Analytical Sizing Methods for behind-the-meter Battery Storage</a:t>
            </a:r>
          </a:p>
          <a:p xmlns:a="http://schemas.openxmlformats.org/drawingml/2006/main">
            <a:r>
              <a:t>https://www.pnnl.gov/publications/analytical-sizing-methods-behind-meter-battery-storage</a:t>
            </a:r>
          </a:p>
          <a:p xmlns:a="http://schemas.openxmlformats.org/drawingml/2006/main">
            <a:r>
              <a:t>ARENA · What is battery storage?</a:t>
            </a:r>
          </a:p>
          <a:p xmlns:a="http://schemas.openxmlformats.org/drawingml/2006/main">
            <a:r>
              <a:t>https://arena.gov.au/renewable-energy/battery-storage/</a:t>
            </a:r>
          </a:p>
          <a:p xmlns:a="http://schemas.openxmlformats.org/drawingml/2006/main">
            <a:r>
              <a:t>IEA · The Future of Electricity in the Middle East and North Africa</a:t>
            </a:r>
          </a:p>
          <a:p xmlns:a="http://schemas.openxmlformats.org/drawingml/2006/main">
            <a:r>
              <a:t>https://www.iea.org/reports/the-future-of-electricity-in-the-middle-east-and-north-africa/executive-summary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PNNL · Analytical Sizing Methods for behind-the-meter Battery Storage</a:t>
            </a:r>
          </a:p>
          <a:p xmlns:a="http://schemas.openxmlformats.org/drawingml/2006/main">
            <a:r>
              <a:t>https://www.pnnl.gov/publications/analytical-sizing-methods-behind-meter-battery-storage</a:t>
            </a:r>
          </a:p>
          <a:p xmlns:a="http://schemas.openxmlformats.org/drawingml/2006/main">
            <a:r>
              <a:t>ARENA · What is battery storage?</a:t>
            </a:r>
          </a:p>
          <a:p xmlns:a="http://schemas.openxmlformats.org/drawingml/2006/main">
            <a:r>
              <a:t>https://arena.gov.au/renewable-energy/battery-storage/</a:t>
            </a:r>
          </a:p>
          <a:p xmlns:a="http://schemas.openxmlformats.org/drawingml/2006/main">
            <a:r>
              <a:t>IEA · The Future of Electricity in the Middle East and North Africa</a:t>
            </a:r>
          </a:p>
          <a:p xmlns:a="http://schemas.openxmlformats.org/drawingml/2006/main">
            <a:r>
              <a:t>https://www.iea.org/reports/the-future-of-electricity-in-the-middle-east-and-north-africa/executive-summary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PNNL · Analytical Sizing Methods for behind-the-meter Battery Storage</a:t>
            </a:r>
          </a:p>
          <a:p xmlns:a="http://schemas.openxmlformats.org/drawingml/2006/main">
            <a:r>
              <a:t>https://www.pnnl.gov/publications/analytical-sizing-methods-behind-meter-battery-storage</a:t>
            </a:r>
          </a:p>
          <a:p xmlns:a="http://schemas.openxmlformats.org/drawingml/2006/main">
            <a:r>
              <a:t>ARENA · What is battery storage?</a:t>
            </a:r>
          </a:p>
          <a:p xmlns:a="http://schemas.openxmlformats.org/drawingml/2006/main">
            <a:r>
              <a:t>https://arena.gov.au/renewable-energy/battery-storage/</a:t>
            </a:r>
          </a:p>
          <a:p xmlns:a="http://schemas.openxmlformats.org/drawingml/2006/main">
            <a:r>
              <a:t>IEA · The Future of Electricity in the Middle East and North Africa</a:t>
            </a:r>
          </a:p>
          <a:p xmlns:a="http://schemas.openxmlformats.org/drawingml/2006/main">
            <a:r>
              <a:t>https://www.iea.org/reports/the-future-of-electricity-in-the-middle-east-and-north-africa/executive-summary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PNNL · Analytical Sizing Methods for behind-the-meter Battery Storage</a:t>
            </a:r>
          </a:p>
          <a:p xmlns:a="http://schemas.openxmlformats.org/drawingml/2006/main">
            <a:r>
              <a:t>https://www.pnnl.gov/publications/analytical-sizing-methods-behind-meter-battery-storage</a:t>
            </a:r>
          </a:p>
          <a:p xmlns:a="http://schemas.openxmlformats.org/drawingml/2006/main">
            <a:r>
              <a:t>ARENA · What is battery storage?</a:t>
            </a:r>
          </a:p>
          <a:p xmlns:a="http://schemas.openxmlformats.org/drawingml/2006/main">
            <a:r>
              <a:t>https://arena.gov.au/renewable-energy/battery-storage/</a:t>
            </a:r>
          </a:p>
          <a:p xmlns:a="http://schemas.openxmlformats.org/drawingml/2006/main">
            <a:r>
              <a:t>IEA · The Future of Electricity in the Middle East and North Africa</a:t>
            </a:r>
          </a:p>
          <a:p xmlns:a="http://schemas.openxmlformats.org/drawingml/2006/main">
            <a:r>
              <a:t>https://www.iea.org/reports/the-future-of-electricity-in-the-middle-east-and-north-africa/executive-summary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PNNL · Analytical Sizing Methods for behind-the-meter Battery Storage</a:t>
            </a:r>
          </a:p>
          <a:p xmlns:a="http://schemas.openxmlformats.org/drawingml/2006/main">
            <a:r>
              <a:t>https://www.pnnl.gov/publications/analytical-sizing-methods-behind-meter-battery-storage</a:t>
            </a:r>
          </a:p>
          <a:p xmlns:a="http://schemas.openxmlformats.org/drawingml/2006/main">
            <a:r>
              <a:t>ARENA · What is battery storage?</a:t>
            </a:r>
          </a:p>
          <a:p xmlns:a="http://schemas.openxmlformats.org/drawingml/2006/main">
            <a:r>
              <a:t>https://arena.gov.au/renewable-energy/battery-storage/</a:t>
            </a:r>
          </a:p>
          <a:p xmlns:a="http://schemas.openxmlformats.org/drawingml/2006/main">
            <a:r>
              <a:t>IEA · The Future of Electricity in the Middle East and North Africa</a:t>
            </a:r>
          </a:p>
          <a:p xmlns:a="http://schemas.openxmlformats.org/drawingml/2006/main">
            <a:r>
              <a:t>https://www.iea.org/reports/the-future-of-electricity-in-the-middle-east-and-north-africa/executive-summary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d74918b34848e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d7f80f1ccd41f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34fd389cfd4a1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5fa0a43d99468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080c41f5e14fb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d5d6f7baed4f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DA7E908-E045-40E5-B069-78DF36FFC9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4F43FC2-39AF-46ED-AC3A-45C2647D3B8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E8664ED-A10F-4915-BAE4-C76349C620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866D1FF-E2DB-4234-ABA0-180E7B1B9A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30650B0-5796-46E4-85DC-D7D3C912D1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7E06712-E0F1-4685-BD46-69FF65DE50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37C283E-F7E3-41E2-AF70-83C35C0F32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BC2A849-A04C-4785-952F-5211E80FB29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2AA6C4-DD87-4C5B-8648-223DCBA239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6BD1686-1FC1-4D8B-A407-F11502D84D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b643c1a4cb41cb" /><Relationship Type="http://schemas.openxmlformats.org/officeDocument/2006/relationships/slideLayout" Target="/ppt/slideLayouts/slideLayout1.xml" Id="R393ff582e003458a" /><Relationship Type="http://schemas.openxmlformats.org/officeDocument/2006/relationships/slideLayout" Target="/ppt/slideLayouts/slideLayout2.xml" Id="R6a7a219378ce48e1" /><Relationship Type="http://schemas.openxmlformats.org/officeDocument/2006/relationships/slideLayout" Target="/ppt/slideLayouts/slideLayout3.xml" Id="R5d08964679a34112" /><Relationship Type="http://schemas.openxmlformats.org/officeDocument/2006/relationships/slideLayout" Target="/ppt/slideLayouts/slideLayout4.xml" Id="R83f0c82669424cbb" /><Relationship Type="http://schemas.openxmlformats.org/officeDocument/2006/relationships/slideLayout" Target="/ppt/slideLayouts/slideLayout5.xml" Id="R96aafcb9082f40a5" /><Relationship Type="http://schemas.openxmlformats.org/officeDocument/2006/relationships/slideLayout" Target="/ppt/slideLayouts/slideLayout6.xml" Id="R59ef64e449f847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3ff582e003458a"/>
    <p:sldLayoutId xmlns:r="http://schemas.openxmlformats.org/officeDocument/2006/relationships" id="2147483650" r:id="R6a7a219378ce48e1"/>
    <p:sldLayoutId xmlns:r="http://schemas.openxmlformats.org/officeDocument/2006/relationships" id="2147483651" r:id="R5d08964679a34112"/>
    <p:sldLayoutId xmlns:r="http://schemas.openxmlformats.org/officeDocument/2006/relationships" id="2147483652" r:id="R83f0c82669424cbb"/>
    <p:sldLayoutId xmlns:r="http://schemas.openxmlformats.org/officeDocument/2006/relationships" id="2147483653" r:id="R96aafcb9082f40a5"/>
    <p:sldLayoutId xmlns:r="http://schemas.openxmlformats.org/officeDocument/2006/relationships" id="2147483654" r:id="R59ef64e449f847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69e1ef4b9f4ad5" /><Relationship Type="http://schemas.openxmlformats.org/officeDocument/2006/relationships/notesSlide" Target="/ppt/notesSlides/notesSlide1.xml" Id="Rd608aa6c028449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a7a91b22db4ab2" /><Relationship Type="http://schemas.openxmlformats.org/officeDocument/2006/relationships/notesSlide" Target="/ppt/notesSlides/notesSlide2.xml" Id="R4de9e5f1df7b4d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c55fd0289d4bd0" /><Relationship Type="http://schemas.openxmlformats.org/officeDocument/2006/relationships/notesSlide" Target="/ppt/notesSlides/notesSlide3.xml" Id="R34108deac2b547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e1c807e79649bb" /><Relationship Type="http://schemas.openxmlformats.org/officeDocument/2006/relationships/notesSlide" Target="/ppt/notesSlides/notesSlide4.xml" Id="Reb3b23bdd34143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551df27c58487d" /><Relationship Type="http://schemas.openxmlformats.org/officeDocument/2006/relationships/notesSlide" Target="/ppt/notesSlides/notesSlide5.xml" Id="R26beb25b43dd41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9330743d4149b9" /><Relationship Type="http://schemas.openxmlformats.org/officeDocument/2006/relationships/notesSlide" Target="/ppt/notesSlides/notesSlide6.xml" Id="R378dcd98ded64e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af73a214784935" /><Relationship Type="http://schemas.openxmlformats.org/officeDocument/2006/relationships/notesSlide" Target="/ppt/notesSlides/notesSlide7.xml" Id="R3a913f5e2fb541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accc5481e24b78" /><Relationship Type="http://schemas.openxmlformats.org/officeDocument/2006/relationships/notesSlide" Target="/ppt/notesSlides/notesSlide8.xml" Id="Ref197caae5fe46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3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NERGY STORAGE · MEETING BRIEF">
            <a:extLst xmlns:a="http://schemas.openxmlformats.org/drawingml/2006/main">
              <a:ext uri="{FF2B5EF4-FFF2-40B4-BE49-F238E27FC236}">
                <a16:creationId xmlns:a16="http://schemas.microsoft.com/office/drawing/2014/main" id="{56A0178A-E5E4-4233-868F-B0176FB4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6B9FC"/>
                </a:solidFill>
                <a:latin typeface="Arial"/>
                <a:ea typeface="Arial"/>
                <a:cs typeface="Arial"/>
              </a:rPr>
              <a:t>ENERGY STORAGE · MEETING BRIEF</a:t>
            </a:r>
          </a:p>
        </p:txBody>
      </p:sp>
      <p:sp>
        <p:nvSpPr>
          <p:cNvPr id="2" name="Illustrative storage case discussio">
            <a:extLst xmlns:a="http://schemas.openxmlformats.org/drawingml/2006/main">
              <a:ext uri="{FF2B5EF4-FFF2-40B4-BE49-F238E27FC236}">
                <a16:creationId xmlns:a16="http://schemas.microsoft.com/office/drawing/2014/main" id="{F3BF0231-46DD-4845-B0D1-045C203C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85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Illustrative storage case discussions</a:t>
            </a:r>
          </a:p>
        </p:txBody>
      </p:sp>
      <p:sp>
        <p:nvSpPr>
          <p:cNvPr id="3" name="Customer meeting reference material">
            <a:extLst xmlns:a="http://schemas.openxmlformats.org/drawingml/2006/main">
              <a:ext uri="{FF2B5EF4-FFF2-40B4-BE49-F238E27FC236}">
                <a16:creationId xmlns:a16="http://schemas.microsoft.com/office/drawing/2014/main" id="{C5482A5D-BF8E-412E-8F7F-2616258D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FCBE9"/>
                </a:solidFill>
                <a:latin typeface="Arial"/>
                <a:ea typeface="Arial"/>
                <a:cs typeface="Arial"/>
              </a:rPr>
              <a:t>Customer meeting reference material</a:t>
            </a:r>
          </a:p>
        </p:txBody>
      </p:sp>
      <p:sp>
        <p:nvSpPr>
          <p:cNvPr id="4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D4C27880-4B24-4F80-BB33-DF826B57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FCBE9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5" name="1">
            <a:extLst xmlns:a="http://schemas.openxmlformats.org/drawingml/2006/main">
              <a:ext uri="{FF2B5EF4-FFF2-40B4-BE49-F238E27FC236}">
                <a16:creationId xmlns:a16="http://schemas.microsoft.com/office/drawing/2014/main" id="{80A840B6-1217-4554-92A3-DE3263D1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FCBE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731439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0654615B-A773-428B-947C-8B3DA976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Utility project discussion">
            <a:extLst xmlns:a="http://schemas.openxmlformats.org/drawingml/2006/main">
              <a:ext uri="{FF2B5EF4-FFF2-40B4-BE49-F238E27FC236}">
                <a16:creationId xmlns:a16="http://schemas.microsoft.com/office/drawing/2014/main" id="{9947F672-B8A0-4A86-9D90-B1C15E1E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Utility project discussion</a:t>
            </a:r>
          </a:p>
        </p:txBody>
      </p:sp>
      <p:sp>
        <p:nvSpPr>
          <p:cNvPr id="3" name="• Illustrative scenario, not a comp">
            <a:extLst xmlns:a="http://schemas.openxmlformats.org/drawingml/2006/main">
              <a:ext uri="{FF2B5EF4-FFF2-40B4-BE49-F238E27FC236}">
                <a16:creationId xmlns:a16="http://schemas.microsoft.com/office/drawing/2014/main" id="{1D7F661F-955D-4003-B05C-57C82B23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Illustrative scenario, not a completed company project</a:t>
            </a:r>
          </a:p>
        </p:txBody>
      </p:sp>
      <p:sp>
        <p:nvSpPr>
          <p:cNvPr id="4" name="• Discuss connection and dispatch o">
            <a:extLst xmlns:a="http://schemas.openxmlformats.org/drawingml/2006/main">
              <a:ext uri="{FF2B5EF4-FFF2-40B4-BE49-F238E27FC236}">
                <a16:creationId xmlns:a16="http://schemas.microsoft.com/office/drawing/2014/main" id="{DE20D8AF-3379-4E0D-A34F-1DFC080D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Discuss connection and dispatch objectives</a:t>
            </a:r>
          </a:p>
        </p:txBody>
      </p:sp>
      <p:sp>
        <p:nvSpPr>
          <p:cNvPr id="5" name="• Compare interface and delivery le">
            <a:extLst xmlns:a="http://schemas.openxmlformats.org/drawingml/2006/main">
              <a:ext uri="{FF2B5EF4-FFF2-40B4-BE49-F238E27FC236}">
                <a16:creationId xmlns:a16="http://schemas.microsoft.com/office/drawing/2014/main" id="{69652451-CA8C-446B-973D-9F11E887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Compare interface and delivery lessons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8C75B782-B94B-4D1D-B89E-0F4CEC97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2">
            <a:extLst xmlns:a="http://schemas.openxmlformats.org/drawingml/2006/main">
              <a:ext uri="{FF2B5EF4-FFF2-40B4-BE49-F238E27FC236}">
                <a16:creationId xmlns:a16="http://schemas.microsoft.com/office/drawing/2014/main" id="{9C2D8F79-22CC-4E54-AFFD-0975E08B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47812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21E355B9-F3ED-4326-8203-0CFDF650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Industrial facility discussion">
            <a:extLst xmlns:a="http://schemas.openxmlformats.org/drawingml/2006/main">
              <a:ext uri="{FF2B5EF4-FFF2-40B4-BE49-F238E27FC236}">
                <a16:creationId xmlns:a16="http://schemas.microsoft.com/office/drawing/2014/main" id="{7B6B6658-93F4-46B6-B11F-57881477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Industrial facility discussion</a:t>
            </a:r>
          </a:p>
        </p:txBody>
      </p:sp>
      <p:sp>
        <p:nvSpPr>
          <p:cNvPr id="3" name="• Illustrative scenario, not measur">
            <a:extLst xmlns:a="http://schemas.openxmlformats.org/drawingml/2006/main">
              <a:ext uri="{FF2B5EF4-FFF2-40B4-BE49-F238E27FC236}">
                <a16:creationId xmlns:a16="http://schemas.microsoft.com/office/drawing/2014/main" id="{008BF056-6D28-446A-A471-05047D07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Illustrative scenario, not measured financial performance</a:t>
            </a:r>
          </a:p>
        </p:txBody>
      </p:sp>
      <p:sp>
        <p:nvSpPr>
          <p:cNvPr id="4" name="• Consider facility load and tariff">
            <a:extLst xmlns:a="http://schemas.openxmlformats.org/drawingml/2006/main">
              <a:ext uri="{FF2B5EF4-FFF2-40B4-BE49-F238E27FC236}">
                <a16:creationId xmlns:a16="http://schemas.microsoft.com/office/drawing/2014/main" id="{D4B3B6F2-7B39-47F8-93EA-CBF67CA5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Consider facility load and tariff inputs</a:t>
            </a:r>
          </a:p>
        </p:txBody>
      </p:sp>
      <p:sp>
        <p:nvSpPr>
          <p:cNvPr id="5" name="• Confirm operating constraints bef">
            <a:extLst xmlns:a="http://schemas.openxmlformats.org/drawingml/2006/main">
              <a:ext uri="{FF2B5EF4-FFF2-40B4-BE49-F238E27FC236}">
                <a16:creationId xmlns:a16="http://schemas.microsoft.com/office/drawing/2014/main" id="{63B5AEC0-DBCB-47AB-9517-CFAB5E9A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Confirm operating constraints before sizing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4186ABEA-2509-46B3-A736-D32F9BCD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3">
            <a:extLst xmlns:a="http://schemas.openxmlformats.org/drawingml/2006/main">
              <a:ext uri="{FF2B5EF4-FFF2-40B4-BE49-F238E27FC236}">
                <a16:creationId xmlns:a16="http://schemas.microsoft.com/office/drawing/2014/main" id="{1C67BF3C-5309-4DC4-A135-F0A9E3F9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494765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D4E38194-DAB3-4485-BC56-1CA60821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European customer discussion">
            <a:extLst xmlns:a="http://schemas.openxmlformats.org/drawingml/2006/main">
              <a:ext uri="{FF2B5EF4-FFF2-40B4-BE49-F238E27FC236}">
                <a16:creationId xmlns:a16="http://schemas.microsoft.com/office/drawing/2014/main" id="{7A42E395-DE8E-4BA0-A030-D226784A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European customer discussion</a:t>
            </a:r>
          </a:p>
        </p:txBody>
      </p:sp>
      <p:sp>
        <p:nvSpPr>
          <p:cNvPr id="3" name="Discussion focus">
            <a:extLst xmlns:a="http://schemas.openxmlformats.org/drawingml/2006/main">
              <a:ext uri="{FF2B5EF4-FFF2-40B4-BE49-F238E27FC236}">
                <a16:creationId xmlns:a16="http://schemas.microsoft.com/office/drawing/2014/main" id="{3552EF68-098E-4417-B5A0-BC18B1D5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Discussion focus</a:t>
            </a:r>
          </a:p>
        </p:txBody>
      </p:sp>
      <p:sp>
        <p:nvSpPr>
          <p:cNvPr id="4" name="• Confirm the specific country and ">
            <a:extLst xmlns:a="http://schemas.openxmlformats.org/drawingml/2006/main">
              <a:ext uri="{FF2B5EF4-FFF2-40B4-BE49-F238E27FC236}">
                <a16:creationId xmlns:a16="http://schemas.microsoft.com/office/drawing/2014/main" id="{77A67760-B397-46FD-BFA5-4E49268E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Confirm the specific country and customer requirements</a:t>
            </a:r>
          </a:p>
        </p:txBody>
      </p:sp>
      <p:sp>
        <p:nvSpPr>
          <p:cNvPr id="5" name="• Use project specific safety and s">
            <a:extLst xmlns:a="http://schemas.openxmlformats.org/drawingml/2006/main">
              <a:ext uri="{FF2B5EF4-FFF2-40B4-BE49-F238E27FC236}">
                <a16:creationId xmlns:a16="http://schemas.microsoft.com/office/drawing/2014/main" id="{486C0C12-78F5-4439-88B8-64532BC2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Use project specific safety and site documentation</a:t>
            </a:r>
          </a:p>
        </p:txBody>
      </p:sp>
      <p:sp>
        <p:nvSpPr>
          <p:cNvPr id="6" name="Customer confirmation">
            <a:extLst xmlns:a="http://schemas.openxmlformats.org/drawingml/2006/main">
              <a:ext uri="{FF2B5EF4-FFF2-40B4-BE49-F238E27FC236}">
                <a16:creationId xmlns:a16="http://schemas.microsoft.com/office/drawing/2014/main" id="{676BEC27-BA32-4465-86AD-758C0E6E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Customer confirmation</a:t>
            </a:r>
          </a:p>
        </p:txBody>
      </p:sp>
      <p:sp>
        <p:nvSpPr>
          <p:cNvPr id="7" name="• Do not generalise one market rule">
            <a:extLst xmlns:a="http://schemas.openxmlformats.org/drawingml/2006/main">
              <a:ext uri="{FF2B5EF4-FFF2-40B4-BE49-F238E27FC236}">
                <a16:creationId xmlns:a16="http://schemas.microsoft.com/office/drawing/2014/main" id="{4A3E42DC-57D5-4DAD-9432-6E2769F9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766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Do not generalise one market rule to all Europe</a:t>
            </a:r>
          </a:p>
        </p:txBody>
      </p:sp>
      <p:sp>
        <p:nvSpPr>
          <p:cNvPr id="8" name="• Record unresolved items and owner">
            <a:extLst xmlns:a="http://schemas.openxmlformats.org/drawingml/2006/main">
              <a:ext uri="{FF2B5EF4-FFF2-40B4-BE49-F238E27FC236}">
                <a16:creationId xmlns:a16="http://schemas.microsoft.com/office/drawing/2014/main" id="{825BC697-7E67-45B6-A7F3-73D2968B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481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Record unresolved items and owners</a:t>
            </a:r>
          </a:p>
        </p:txBody>
      </p:sp>
      <p:sp>
        <p:nvSpPr>
          <p:cNvPr id="9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DB958B21-E1FE-4602-8DA0-F2C0B6AF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10" name="4">
            <a:extLst xmlns:a="http://schemas.openxmlformats.org/drawingml/2006/main">
              <a:ext uri="{FF2B5EF4-FFF2-40B4-BE49-F238E27FC236}">
                <a16:creationId xmlns:a16="http://schemas.microsoft.com/office/drawing/2014/main" id="{13FEF10E-565E-414A-A9FF-1EA85C33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64053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6149CB69-EC6B-4A6E-823C-9DBDEA0B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North American customer discussion">
            <a:extLst xmlns:a="http://schemas.openxmlformats.org/drawingml/2006/main">
              <a:ext uri="{FF2B5EF4-FFF2-40B4-BE49-F238E27FC236}">
                <a16:creationId xmlns:a16="http://schemas.microsoft.com/office/drawing/2014/main" id="{9385EDCD-2025-4140-96E8-4A434BA6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North American customer discussion</a:t>
            </a:r>
          </a:p>
        </p:txBody>
      </p:sp>
      <p:sp>
        <p:nvSpPr>
          <p:cNvPr id="3" name="• Identify the asset owner, EPC and">
            <a:extLst xmlns:a="http://schemas.openxmlformats.org/drawingml/2006/main">
              <a:ext uri="{FF2B5EF4-FFF2-40B4-BE49-F238E27FC236}">
                <a16:creationId xmlns:a16="http://schemas.microsoft.com/office/drawing/2014/main" id="{C97C948B-FA15-43F4-A33A-B108F411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Identify the asset owner, EPC and utility interfaces</a:t>
            </a:r>
          </a:p>
        </p:txBody>
      </p:sp>
      <p:sp>
        <p:nvSpPr>
          <p:cNvPr id="4" name="• Confirm local project requirement">
            <a:extLst xmlns:a="http://schemas.openxmlformats.org/drawingml/2006/main">
              <a:ext uri="{FF2B5EF4-FFF2-40B4-BE49-F238E27FC236}">
                <a16:creationId xmlns:a16="http://schemas.microsoft.com/office/drawing/2014/main" id="{9A75DCAF-5687-4136-A26E-CFF6FCFD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Confirm local project requirements with specialists</a:t>
            </a:r>
          </a:p>
        </p:txBody>
      </p:sp>
      <p:sp>
        <p:nvSpPr>
          <p:cNvPr id="5" name="• Keep procurement and technical ro">
            <a:extLst xmlns:a="http://schemas.openxmlformats.org/drawingml/2006/main">
              <a:ext uri="{FF2B5EF4-FFF2-40B4-BE49-F238E27FC236}">
                <a16:creationId xmlns:a16="http://schemas.microsoft.com/office/drawing/2014/main" id="{1CF01A16-CDEE-413E-90AE-C8F4574E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Keep procurement and technical roles distinct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CBB49936-C72A-45BD-8B7E-271E576A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5">
            <a:extLst xmlns:a="http://schemas.openxmlformats.org/drawingml/2006/main">
              <a:ext uri="{FF2B5EF4-FFF2-40B4-BE49-F238E27FC236}">
                <a16:creationId xmlns:a16="http://schemas.microsoft.com/office/drawing/2014/main" id="{5682EE67-ACD0-403C-9CF0-7D0E265C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4368875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7C94526B-6CA8-4A20-85CD-C111A476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Middle East customer discussion">
            <a:extLst xmlns:a="http://schemas.openxmlformats.org/drawingml/2006/main">
              <a:ext uri="{FF2B5EF4-FFF2-40B4-BE49-F238E27FC236}">
                <a16:creationId xmlns:a16="http://schemas.microsoft.com/office/drawing/2014/main" id="{ABC53BEA-ED9B-48ED-AA5C-E7238827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Middle East customer discussion</a:t>
            </a:r>
          </a:p>
        </p:txBody>
      </p:sp>
      <p:sp>
        <p:nvSpPr>
          <p:cNvPr id="3" name="• Clarify operating environment and">
            <a:extLst xmlns:a="http://schemas.openxmlformats.org/drawingml/2006/main">
              <a:ext uri="{FF2B5EF4-FFF2-40B4-BE49-F238E27FC236}">
                <a16:creationId xmlns:a16="http://schemas.microsoft.com/office/drawing/2014/main" id="{2B01887E-AA8B-4451-9FED-6A25304C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Clarify operating environment and local delivery interfaces</a:t>
            </a:r>
          </a:p>
        </p:txBody>
      </p:sp>
      <p:sp>
        <p:nvSpPr>
          <p:cNvPr id="4" name="• Discuss reliability and flexibili">
            <a:extLst xmlns:a="http://schemas.openxmlformats.org/drawingml/2006/main">
              <a:ext uri="{FF2B5EF4-FFF2-40B4-BE49-F238E27FC236}">
                <a16:creationId xmlns:a16="http://schemas.microsoft.com/office/drawing/2014/main" id="{8D4E8C0D-F0B9-4A19-8442-B000B5E6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Discuss reliability and flexibility objectives</a:t>
            </a:r>
          </a:p>
        </p:txBody>
      </p:sp>
      <p:sp>
        <p:nvSpPr>
          <p:cNvPr id="5" name="• Validate customer needs rather th">
            <a:extLst xmlns:a="http://schemas.openxmlformats.org/drawingml/2006/main">
              <a:ext uri="{FF2B5EF4-FFF2-40B4-BE49-F238E27FC236}">
                <a16:creationId xmlns:a16="http://schemas.microsoft.com/office/drawing/2014/main" id="{0BEFFE31-0904-4250-902F-2684B6BD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Validate customer needs rather than assuming regional demand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4E987BEF-D301-4B08-AC81-FF5836EC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6">
            <a:extLst xmlns:a="http://schemas.openxmlformats.org/drawingml/2006/main">
              <a:ext uri="{FF2B5EF4-FFF2-40B4-BE49-F238E27FC236}">
                <a16:creationId xmlns:a16="http://schemas.microsoft.com/office/drawing/2014/main" id="{72D690C2-77B6-4F6D-A1D3-4D21C7C8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883330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8112D322-77FD-4C1B-8ED8-B37A5A9C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Asia Pacific customer discussion">
            <a:extLst xmlns:a="http://schemas.openxmlformats.org/drawingml/2006/main">
              <a:ext uri="{FF2B5EF4-FFF2-40B4-BE49-F238E27FC236}">
                <a16:creationId xmlns:a16="http://schemas.microsoft.com/office/drawing/2014/main" id="{0E8EDA39-ADAD-4635-8E85-1F7DB0F8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Asia Pacific customer discussion</a:t>
            </a:r>
          </a:p>
        </p:txBody>
      </p:sp>
      <p:sp>
        <p:nvSpPr>
          <p:cNvPr id="3" name="• Distinguish grid, facility and mi">
            <a:extLst xmlns:a="http://schemas.openxmlformats.org/drawingml/2006/main">
              <a:ext uri="{FF2B5EF4-FFF2-40B4-BE49-F238E27FC236}">
                <a16:creationId xmlns:a16="http://schemas.microsoft.com/office/drawing/2014/main" id="{9270F7A3-785A-42F0-9C7D-5980B127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Distinguish grid, facility and microgrid applications</a:t>
            </a:r>
          </a:p>
        </p:txBody>
      </p:sp>
      <p:sp>
        <p:nvSpPr>
          <p:cNvPr id="4" name="• Confirm local service and site co">
            <a:extLst xmlns:a="http://schemas.openxmlformats.org/drawingml/2006/main">
              <a:ext uri="{FF2B5EF4-FFF2-40B4-BE49-F238E27FC236}">
                <a16:creationId xmlns:a16="http://schemas.microsoft.com/office/drawing/2014/main" id="{7CB260CC-A4F2-4DD8-8A87-1917CF50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Confirm local service and site conditions</a:t>
            </a:r>
          </a:p>
        </p:txBody>
      </p:sp>
      <p:sp>
        <p:nvSpPr>
          <p:cNvPr id="5" name="• Use lessons as questions, not sup">
            <a:extLst xmlns:a="http://schemas.openxmlformats.org/drawingml/2006/main">
              <a:ext uri="{FF2B5EF4-FFF2-40B4-BE49-F238E27FC236}">
                <a16:creationId xmlns:a16="http://schemas.microsoft.com/office/drawing/2014/main" id="{A640B9B8-6664-4492-B712-0B90FDBA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Use lessons as questions, not supplier references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7E070D18-BFC2-4CBC-9ED3-8F444198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7">
            <a:extLst xmlns:a="http://schemas.openxmlformats.org/drawingml/2006/main">
              <a:ext uri="{FF2B5EF4-FFF2-40B4-BE49-F238E27FC236}">
                <a16:creationId xmlns:a16="http://schemas.microsoft.com/office/drawing/2014/main" id="{EAA558C5-8AEE-487E-BAA8-7DF37440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3361358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5F8E8025-FD7B-4C08-86CD-005E67B5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Discussion and next steps">
            <a:extLst xmlns:a="http://schemas.openxmlformats.org/drawingml/2006/main">
              <a:ext uri="{FF2B5EF4-FFF2-40B4-BE49-F238E27FC236}">
                <a16:creationId xmlns:a16="http://schemas.microsoft.com/office/drawing/2014/main" id="{FA685FDF-979F-4BAA-95CE-F75CC54F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Discussion and next steps</a:t>
            </a:r>
          </a:p>
        </p:txBody>
      </p:sp>
      <p:sp>
        <p:nvSpPr>
          <p:cNvPr id="3" name="• Confirm the customer priorities">
            <a:extLst xmlns:a="http://schemas.openxmlformats.org/drawingml/2006/main">
              <a:ext uri="{FF2B5EF4-FFF2-40B4-BE49-F238E27FC236}">
                <a16:creationId xmlns:a16="http://schemas.microsoft.com/office/drawing/2014/main" id="{71A058A4-CA8F-4CC5-B9B3-A6AC01D7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Confirm the customer priorities</a:t>
            </a:r>
          </a:p>
        </p:txBody>
      </p:sp>
      <p:sp>
        <p:nvSpPr>
          <p:cNvPr id="4" name="• Agree owners for open questions">
            <a:extLst xmlns:a="http://schemas.openxmlformats.org/drawingml/2006/main">
              <a:ext uri="{FF2B5EF4-FFF2-40B4-BE49-F238E27FC236}">
                <a16:creationId xmlns:a16="http://schemas.microsoft.com/office/drawing/2014/main" id="{70E7E9B7-8B5E-48D1-8D11-4293DFE2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Agree owners for open questions</a:t>
            </a:r>
          </a:p>
        </p:txBody>
      </p:sp>
      <p:sp>
        <p:nvSpPr>
          <p:cNvPr id="5" name="• Set the next review milestone">
            <a:extLst xmlns:a="http://schemas.openxmlformats.org/drawingml/2006/main">
              <a:ext uri="{FF2B5EF4-FFF2-40B4-BE49-F238E27FC236}">
                <a16:creationId xmlns:a16="http://schemas.microsoft.com/office/drawing/2014/main" id="{F8725F61-E3E8-49CB-B12A-4FB14BCF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Set the next review milestone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C1A28A73-C942-4C2B-AACE-424D6B6E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8">
            <a:extLst xmlns:a="http://schemas.openxmlformats.org/drawingml/2006/main">
              <a:ext uri="{FF2B5EF4-FFF2-40B4-BE49-F238E27FC236}">
                <a16:creationId xmlns:a16="http://schemas.microsoft.com/office/drawing/2014/main" id="{51286170-AA0D-430A-BCE2-4549C598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934422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2026-10-25T17:21:27.8450000Z</dcterms:created>
  <dcterms:modified xsi:type="dcterms:W3CDTF">2026-10-25T17:21:27.8450000Z</dcterms:modified>
</coreProperties>
</file>