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a6c1b7e2d3043a9" /><Relationship Type="http://schemas.openxmlformats.org/officeDocument/2006/relationships/extended-properties" Target="/docProps/app.xml" Id="R4fd141edcf6d41a5" /><Relationship Type="http://schemas.openxmlformats.org/officeDocument/2006/relationships/officeDocument" Target="/ppt/presentation.xml" Id="Ra2a6ba515e294ff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821b7a1fd574d1e"/>
  </p:sldMasterIdLst>
  <p:notesMasterIdLst>
    <p:notesMasterId xmlns:r="http://schemas.openxmlformats.org/officeDocument/2006/relationships" r:id="R338f122004f54a94"/>
  </p:notesMasterIdLst>
  <p:sldIdLst>
    <p:sldId xmlns:r="http://schemas.openxmlformats.org/officeDocument/2006/relationships" id="256" r:id="Rfeacbcc12a3e47d4"/>
    <p:sldId xmlns:r="http://schemas.openxmlformats.org/officeDocument/2006/relationships" id="257" r:id="R42f72e2f2bd247d2"/>
    <p:sldId xmlns:r="http://schemas.openxmlformats.org/officeDocument/2006/relationships" id="258" r:id="R247a64fbffac4416"/>
    <p:sldId xmlns:r="http://schemas.openxmlformats.org/officeDocument/2006/relationships" id="259" r:id="Rccc12c14bd1a4174"/>
    <p:sldId xmlns:r="http://schemas.openxmlformats.org/officeDocument/2006/relationships" id="260" r:id="Ra01520b611cc43ad"/>
    <p:sldId xmlns:r="http://schemas.openxmlformats.org/officeDocument/2006/relationships" id="261" r:id="R3bd3e07c9432493b"/>
    <p:sldId xmlns:r="http://schemas.openxmlformats.org/officeDocument/2006/relationships" id="262" r:id="Rb319f232b8294a3a"/>
    <p:sldId xmlns:r="http://schemas.openxmlformats.org/officeDocument/2006/relationships" id="263" r:id="R9f46a875884f4e7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36417377795429d" /><Relationship Type="http://schemas.openxmlformats.org/officeDocument/2006/relationships/slideMaster" Target="/ppt/slideMasters/slideMaster1.xml" Id="R9821b7a1fd574d1e" /><Relationship Type="http://schemas.openxmlformats.org/officeDocument/2006/relationships/notesMaster" Target="/ppt/notesMasters/notesMaster1.xml" Id="R338f122004f54a94" /><Relationship Type="http://schemas.openxmlformats.org/officeDocument/2006/relationships/presProps" Target="/ppt/presProps.xml" Id="Rc03c9bdf88c94fb2" /><Relationship Type="http://schemas.openxmlformats.org/officeDocument/2006/relationships/tableStyles" Target="/ppt/tableStyles.xml" Id="Re4328a9844324927" /><Relationship Type="http://schemas.openxmlformats.org/officeDocument/2006/relationships/slide" Target="/ppt/slides/slide1.xml" Id="Rfeacbcc12a3e47d4" /><Relationship Type="http://schemas.openxmlformats.org/officeDocument/2006/relationships/slide" Target="/ppt/slides/slide2.xml" Id="R42f72e2f2bd247d2" /><Relationship Type="http://schemas.openxmlformats.org/officeDocument/2006/relationships/slide" Target="/ppt/slides/slide3.xml" Id="R247a64fbffac4416" /><Relationship Type="http://schemas.openxmlformats.org/officeDocument/2006/relationships/slide" Target="/ppt/slides/slide4.xml" Id="Rccc12c14bd1a4174" /><Relationship Type="http://schemas.openxmlformats.org/officeDocument/2006/relationships/slide" Target="/ppt/slides/slide5.xml" Id="Ra01520b611cc43ad" /><Relationship Type="http://schemas.openxmlformats.org/officeDocument/2006/relationships/slide" Target="/ppt/slides/slide6.xml" Id="R3bd3e07c9432493b" /><Relationship Type="http://schemas.openxmlformats.org/officeDocument/2006/relationships/slide" Target="/ppt/slides/slide7.xml" Id="Rb319f232b8294a3a" /><Relationship Type="http://schemas.openxmlformats.org/officeDocument/2006/relationships/slide" Target="/ppt/slides/slide8.xml" Id="R9f46a875884f4e7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f932419c50a4e2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4eecd89c5de4e27" /><Relationship Type="http://schemas.openxmlformats.org/officeDocument/2006/relationships/notesMaster" Target="/ppt/notesMasters/notesMaster1.xml" Id="R22e81cca8a6841b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fd100e04ca44e8d" /><Relationship Type="http://schemas.openxmlformats.org/officeDocument/2006/relationships/notesMaster" Target="/ppt/notesMasters/notesMaster1.xml" Id="Rabcf39541cb64fd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ca5655eee2149c1" /><Relationship Type="http://schemas.openxmlformats.org/officeDocument/2006/relationships/notesMaster" Target="/ppt/notesMasters/notesMaster1.xml" Id="R39e6c094e1804dc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2c7e5ebf93d467a" /><Relationship Type="http://schemas.openxmlformats.org/officeDocument/2006/relationships/notesMaster" Target="/ppt/notesMasters/notesMaster1.xml" Id="R030cd69a154a4cd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b295f165306446b" /><Relationship Type="http://schemas.openxmlformats.org/officeDocument/2006/relationships/notesMaster" Target="/ppt/notesMasters/notesMaster1.xml" Id="R5d54340dcfcf4d8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31e5bbf183b4801" /><Relationship Type="http://schemas.openxmlformats.org/officeDocument/2006/relationships/notesMaster" Target="/ppt/notesMasters/notesMaster1.xml" Id="R76f6532714534c5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902300965234a5f" /><Relationship Type="http://schemas.openxmlformats.org/officeDocument/2006/relationships/notesMaster" Target="/ppt/notesMasters/notesMaster1.xml" Id="Rcba13ceea12e43c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41cd6f257e640c3" /><Relationship Type="http://schemas.openxmlformats.org/officeDocument/2006/relationships/notesMaster" Target="/ppt/notesMasters/notesMaster1.xml" Id="Rd29db895a0f24a7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illustrative sales guidance. Public background references, accessed 2026-10-26:</a:t>
            </a:r>
          </a:p>
          <a:p xmlns:a="http://schemas.openxmlformats.org/drawingml/2006/main">
            <a:r>
              <a:t>DESNZ · Grid scale electrical energy storage systems: health and safety</a:t>
            </a:r>
          </a:p>
          <a:p xmlns:a="http://schemas.openxmlformats.org/drawingml/2006/main">
            <a:r>
              <a:t>https://www.gov.uk/government/publications/grid-scale-electrical-energy-storage-systems-health-and-safety</a:t>
            </a:r>
          </a:p>
          <a:p xmlns:a="http://schemas.openxmlformats.org/drawingml/2006/main">
            <a:r>
              <a:t>ARENA · What is battery storage?</a:t>
            </a:r>
          </a:p>
          <a:p xmlns:a="http://schemas.openxmlformats.org/drawingml/2006/main">
            <a:r>
              <a:t>https://arena.gov.au/renewable-energy/battery-storage/</a:t>
            </a:r>
          </a:p>
          <a:p xmlns:a="http://schemas.openxmlformats.org/drawingml/2006/main">
            <a:r>
              <a:t>Mock scenarios are not company case studies or product claims.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illustrative sales guidance. Public background references, accessed 2026-10-26:</a:t>
            </a:r>
          </a:p>
          <a:p xmlns:a="http://schemas.openxmlformats.org/drawingml/2006/main">
            <a:r>
              <a:t>DESNZ · Grid scale electrical energy storage systems: health and safety</a:t>
            </a:r>
          </a:p>
          <a:p xmlns:a="http://schemas.openxmlformats.org/drawingml/2006/main">
            <a:r>
              <a:t>https://www.gov.uk/government/publications/grid-scale-electrical-energy-storage-systems-health-and-safety</a:t>
            </a:r>
          </a:p>
          <a:p xmlns:a="http://schemas.openxmlformats.org/drawingml/2006/main">
            <a:r>
              <a:t>ARENA · What is battery storage?</a:t>
            </a:r>
          </a:p>
          <a:p xmlns:a="http://schemas.openxmlformats.org/drawingml/2006/main">
            <a:r>
              <a:t>https://arena.gov.au/renewable-energy/battery-storage/</a:t>
            </a:r>
          </a:p>
          <a:p xmlns:a="http://schemas.openxmlformats.org/drawingml/2006/main">
            <a:r>
              <a:t>Mock scenarios are not company case studies or product claims.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illustrative sales guidance. Public background references, accessed 2026-10-26:</a:t>
            </a:r>
          </a:p>
          <a:p xmlns:a="http://schemas.openxmlformats.org/drawingml/2006/main">
            <a:r>
              <a:t>DESNZ · Grid scale electrical energy storage systems: health and safety</a:t>
            </a:r>
          </a:p>
          <a:p xmlns:a="http://schemas.openxmlformats.org/drawingml/2006/main">
            <a:r>
              <a:t>https://www.gov.uk/government/publications/grid-scale-electrical-energy-storage-systems-health-and-safety</a:t>
            </a:r>
          </a:p>
          <a:p xmlns:a="http://schemas.openxmlformats.org/drawingml/2006/main">
            <a:r>
              <a:t>ARENA · What is battery storage?</a:t>
            </a:r>
          </a:p>
          <a:p xmlns:a="http://schemas.openxmlformats.org/drawingml/2006/main">
            <a:r>
              <a:t>https://arena.gov.au/renewable-energy/battery-storage/</a:t>
            </a:r>
          </a:p>
          <a:p xmlns:a="http://schemas.openxmlformats.org/drawingml/2006/main">
            <a:r>
              <a:t>Mock scenarios are not company case studies or product claims.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illustrative sales guidance. Public background references, accessed 2026-10-26:</a:t>
            </a:r>
          </a:p>
          <a:p xmlns:a="http://schemas.openxmlformats.org/drawingml/2006/main">
            <a:r>
              <a:t>DESNZ · Grid scale electrical energy storage systems: health and safety</a:t>
            </a:r>
          </a:p>
          <a:p xmlns:a="http://schemas.openxmlformats.org/drawingml/2006/main">
            <a:r>
              <a:t>https://www.gov.uk/government/publications/grid-scale-electrical-energy-storage-systems-health-and-safety</a:t>
            </a:r>
          </a:p>
          <a:p xmlns:a="http://schemas.openxmlformats.org/drawingml/2006/main">
            <a:r>
              <a:t>ARENA · What is battery storage?</a:t>
            </a:r>
          </a:p>
          <a:p xmlns:a="http://schemas.openxmlformats.org/drawingml/2006/main">
            <a:r>
              <a:t>https://arena.gov.au/renewable-energy/battery-storage/</a:t>
            </a:r>
          </a:p>
          <a:p xmlns:a="http://schemas.openxmlformats.org/drawingml/2006/main">
            <a:r>
              <a:t>Mock scenarios are not company case studies or product claims.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illustrative sales guidance. Public background references, accessed 2026-10-26:</a:t>
            </a:r>
          </a:p>
          <a:p xmlns:a="http://schemas.openxmlformats.org/drawingml/2006/main">
            <a:r>
              <a:t>DESNZ · Grid scale electrical energy storage systems: health and safety</a:t>
            </a:r>
          </a:p>
          <a:p xmlns:a="http://schemas.openxmlformats.org/drawingml/2006/main">
            <a:r>
              <a:t>https://www.gov.uk/government/publications/grid-scale-electrical-energy-storage-systems-health-and-safety</a:t>
            </a:r>
          </a:p>
          <a:p xmlns:a="http://schemas.openxmlformats.org/drawingml/2006/main">
            <a:r>
              <a:t>ARENA · What is battery storage?</a:t>
            </a:r>
          </a:p>
          <a:p xmlns:a="http://schemas.openxmlformats.org/drawingml/2006/main">
            <a:r>
              <a:t>https://arena.gov.au/renewable-energy/battery-storage/</a:t>
            </a:r>
          </a:p>
          <a:p xmlns:a="http://schemas.openxmlformats.org/drawingml/2006/main">
            <a:r>
              <a:t>Mock scenarios are not company case studies or product claims.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illustrative sales guidance. Public background references, accessed 2026-10-26:</a:t>
            </a:r>
          </a:p>
          <a:p xmlns:a="http://schemas.openxmlformats.org/drawingml/2006/main">
            <a:r>
              <a:t>DESNZ · Grid scale electrical energy storage systems: health and safety</a:t>
            </a:r>
          </a:p>
          <a:p xmlns:a="http://schemas.openxmlformats.org/drawingml/2006/main">
            <a:r>
              <a:t>https://www.gov.uk/government/publications/grid-scale-electrical-energy-storage-systems-health-and-safety</a:t>
            </a:r>
          </a:p>
          <a:p xmlns:a="http://schemas.openxmlformats.org/drawingml/2006/main">
            <a:r>
              <a:t>ARENA · What is battery storage?</a:t>
            </a:r>
          </a:p>
          <a:p xmlns:a="http://schemas.openxmlformats.org/drawingml/2006/main">
            <a:r>
              <a:t>https://arena.gov.au/renewable-energy/battery-storage/</a:t>
            </a:r>
          </a:p>
          <a:p xmlns:a="http://schemas.openxmlformats.org/drawingml/2006/main">
            <a:r>
              <a:t>Mock scenarios are not company case studies or product claims.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illustrative sales guidance. Public background references, accessed 2026-10-26:</a:t>
            </a:r>
          </a:p>
          <a:p xmlns:a="http://schemas.openxmlformats.org/drawingml/2006/main">
            <a:r>
              <a:t>DESNZ · Grid scale electrical energy storage systems: health and safety</a:t>
            </a:r>
          </a:p>
          <a:p xmlns:a="http://schemas.openxmlformats.org/drawingml/2006/main">
            <a:r>
              <a:t>https://www.gov.uk/government/publications/grid-scale-electrical-energy-storage-systems-health-and-safety</a:t>
            </a:r>
          </a:p>
          <a:p xmlns:a="http://schemas.openxmlformats.org/drawingml/2006/main">
            <a:r>
              <a:t>ARENA · What is battery storage?</a:t>
            </a:r>
          </a:p>
          <a:p xmlns:a="http://schemas.openxmlformats.org/drawingml/2006/main">
            <a:r>
              <a:t>https://arena.gov.au/renewable-energy/battery-storage/</a:t>
            </a:r>
          </a:p>
          <a:p xmlns:a="http://schemas.openxmlformats.org/drawingml/2006/main">
            <a:r>
              <a:t>Mock scenarios are not company case studies or product claims.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illustrative sales guidance. Public background references, accessed 2026-10-26:</a:t>
            </a:r>
          </a:p>
          <a:p xmlns:a="http://schemas.openxmlformats.org/drawingml/2006/main">
            <a:r>
              <a:t>DESNZ · Grid scale electrical energy storage systems: health and safety</a:t>
            </a:r>
          </a:p>
          <a:p xmlns:a="http://schemas.openxmlformats.org/drawingml/2006/main">
            <a:r>
              <a:t>https://www.gov.uk/government/publications/grid-scale-electrical-energy-storage-systems-health-and-safety</a:t>
            </a:r>
          </a:p>
          <a:p xmlns:a="http://schemas.openxmlformats.org/drawingml/2006/main">
            <a:r>
              <a:t>ARENA · What is battery storage?</a:t>
            </a:r>
          </a:p>
          <a:p xmlns:a="http://schemas.openxmlformats.org/drawingml/2006/main">
            <a:r>
              <a:t>https://arena.gov.au/renewable-energy/battery-storage/</a:t>
            </a:r>
          </a:p>
          <a:p xmlns:a="http://schemas.openxmlformats.org/drawingml/2006/main">
            <a:r>
              <a:t>Mock scenarios are not company case studies or product claims.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c2661486a2d4a27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f4eeabfa4d6409f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5ce595e089d48f9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294b964e8c94623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f1fe17948bd488e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cd014db3ff646d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8D5DEA3-E9E9-40EB-8D1E-5C7425C3AFC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C33AC0D5-CCC6-4A52-AAA7-078C870D75DC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4760457B-B1E4-4494-AD97-351E78D9F94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EA2009D-0032-4371-8163-2B0AA1B34E4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4025289C-F34A-4814-9493-1289D20E9D3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310C1032-1856-4E8B-AB4D-36B34759639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7DBC5B4-82A4-4DCE-AA94-81B7F3AB318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233FA423-3428-4AB8-BBEE-7B12DBC3580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EFAB55B-5659-4D9B-AED1-63F89A58ECF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6691534-CF63-4490-9CFB-C99CCAF3FBD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f675a082d3f4fa2" /><Relationship Type="http://schemas.openxmlformats.org/officeDocument/2006/relationships/slideLayout" Target="/ppt/slideLayouts/slideLayout1.xml" Id="Rc354ec4f17554315" /><Relationship Type="http://schemas.openxmlformats.org/officeDocument/2006/relationships/slideLayout" Target="/ppt/slideLayouts/slideLayout2.xml" Id="Rb2afcc7320234572" /><Relationship Type="http://schemas.openxmlformats.org/officeDocument/2006/relationships/slideLayout" Target="/ppt/slideLayouts/slideLayout3.xml" Id="Rd20a3f2a9f62494a" /><Relationship Type="http://schemas.openxmlformats.org/officeDocument/2006/relationships/slideLayout" Target="/ppt/slideLayouts/slideLayout4.xml" Id="Rbb21722c78774391" /><Relationship Type="http://schemas.openxmlformats.org/officeDocument/2006/relationships/slideLayout" Target="/ppt/slideLayouts/slideLayout5.xml" Id="Rc74e07095593490f" /><Relationship Type="http://schemas.openxmlformats.org/officeDocument/2006/relationships/slideLayout" Target="/ppt/slideLayouts/slideLayout6.xml" Id="R5d12989c79cd45b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354ec4f17554315"/>
    <p:sldLayoutId xmlns:r="http://schemas.openxmlformats.org/officeDocument/2006/relationships" id="2147483650" r:id="Rb2afcc7320234572"/>
    <p:sldLayoutId xmlns:r="http://schemas.openxmlformats.org/officeDocument/2006/relationships" id="2147483651" r:id="Rd20a3f2a9f62494a"/>
    <p:sldLayoutId xmlns:r="http://schemas.openxmlformats.org/officeDocument/2006/relationships" id="2147483652" r:id="Rbb21722c78774391"/>
    <p:sldLayoutId xmlns:r="http://schemas.openxmlformats.org/officeDocument/2006/relationships" id="2147483653" r:id="Rc74e07095593490f"/>
    <p:sldLayoutId xmlns:r="http://schemas.openxmlformats.org/officeDocument/2006/relationships" id="2147483654" r:id="R5d12989c79cd45b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505747e7e4b4ba8" /><Relationship Type="http://schemas.openxmlformats.org/officeDocument/2006/relationships/notesSlide" Target="/ppt/notesSlides/notesSlide1.xml" Id="Rd758676739d84d4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c4f7d13fc0845ba" /><Relationship Type="http://schemas.openxmlformats.org/officeDocument/2006/relationships/notesSlide" Target="/ppt/notesSlides/notesSlide2.xml" Id="Rc3e96348941a410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8eb42074dca4dbc" /><Relationship Type="http://schemas.openxmlformats.org/officeDocument/2006/relationships/notesSlide" Target="/ppt/notesSlides/notesSlide3.xml" Id="R672d832d2e654ab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b9eb6a61ff9425f" /><Relationship Type="http://schemas.openxmlformats.org/officeDocument/2006/relationships/notesSlide" Target="/ppt/notesSlides/notesSlide4.xml" Id="Rb2b89b74a4f849f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ffc393615954c08" /><Relationship Type="http://schemas.openxmlformats.org/officeDocument/2006/relationships/notesSlide" Target="/ppt/notesSlides/notesSlide5.xml" Id="Ra142aa1f9f15492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12783fd908e4e69" /><Relationship Type="http://schemas.openxmlformats.org/officeDocument/2006/relationships/notesSlide" Target="/ppt/notesSlides/notesSlide6.xml" Id="R608fbe798c81470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3e45aed698d449d" /><Relationship Type="http://schemas.openxmlformats.org/officeDocument/2006/relationships/notesSlide" Target="/ppt/notesSlides/notesSlide7.xml" Id="Rf39ea53cc114405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eb971c29ce94520" /><Relationship Type="http://schemas.openxmlformats.org/officeDocument/2006/relationships/notesSlide" Target="/ppt/notesSlides/notesSlide8.xml" Id="Ra5bdc0a5c6d5412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7234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ENERGY STORAGE · MEETING BRIEF">
            <a:extLst xmlns:a="http://schemas.openxmlformats.org/drawingml/2006/main">
              <a:ext uri="{FF2B5EF4-FFF2-40B4-BE49-F238E27FC236}">
                <a16:creationId xmlns:a16="http://schemas.microsoft.com/office/drawing/2014/main" id="{C83B7302-5A25-4DF6-8E4E-DD99B31F2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A6B9FC"/>
                </a:solidFill>
                <a:latin typeface="Arial"/>
                <a:ea typeface="Arial"/>
                <a:cs typeface="Arial"/>
              </a:defRPr>
            </a:defPPr>
            <a:lvl1pPr>
              <a:defRPr sz="1200" b="1">
                <a:solidFill>
                  <a:srgbClr val="A6B9FC"/>
                </a:solidFill>
                <a:latin typeface="Arial"/>
                <a:ea typeface="Arial"/>
                <a:cs typeface="Arial"/>
              </a:defRPr>
            </a:lvl1pPr>
            <a:lvl2pPr>
              <a:defRPr sz="1200" b="1">
                <a:solidFill>
                  <a:srgbClr val="A6B9FC"/>
                </a:solidFill>
                <a:latin typeface="Arial"/>
                <a:ea typeface="Arial"/>
                <a:cs typeface="Arial"/>
              </a:defRPr>
            </a:lvl2pPr>
            <a:lvl3pPr>
              <a:defRPr sz="1200" b="1">
                <a:solidFill>
                  <a:srgbClr val="A6B9FC"/>
                </a:solidFill>
                <a:latin typeface="Arial"/>
                <a:ea typeface="Arial"/>
                <a:cs typeface="Arial"/>
              </a:defRPr>
            </a:lvl3pPr>
            <a:lvl4pPr>
              <a:defRPr sz="1200" b="1">
                <a:solidFill>
                  <a:srgbClr val="A6B9FC"/>
                </a:solidFill>
                <a:latin typeface="Arial"/>
                <a:ea typeface="Arial"/>
                <a:cs typeface="Arial"/>
              </a:defRPr>
            </a:lvl4pPr>
            <a:lvl5pPr>
              <a:defRPr sz="1200" b="1">
                <a:solidFill>
                  <a:srgbClr val="A6B9FC"/>
                </a:solidFill>
                <a:latin typeface="Arial"/>
                <a:ea typeface="Arial"/>
                <a:cs typeface="Arial"/>
              </a:defRPr>
            </a:lvl5pPr>
            <a:lvl6pPr>
              <a:defRPr sz="1200" b="1">
                <a:solidFill>
                  <a:srgbClr val="A6B9FC"/>
                </a:solidFill>
                <a:latin typeface="Arial"/>
                <a:ea typeface="Arial"/>
                <a:cs typeface="Arial"/>
              </a:defRPr>
            </a:lvl6pPr>
            <a:lvl7pPr>
              <a:defRPr sz="1200" b="1">
                <a:solidFill>
                  <a:srgbClr val="A6B9FC"/>
                </a:solidFill>
                <a:latin typeface="Arial"/>
                <a:ea typeface="Arial"/>
                <a:cs typeface="Arial"/>
              </a:defRPr>
            </a:lvl7pPr>
            <a:lvl8pPr>
              <a:defRPr sz="1200" b="1">
                <a:solidFill>
                  <a:srgbClr val="A6B9FC"/>
                </a:solidFill>
                <a:latin typeface="Arial"/>
                <a:ea typeface="Arial"/>
                <a:cs typeface="Arial"/>
              </a:defRPr>
            </a:lvl8pPr>
            <a:lvl9pPr>
              <a:defRPr sz="1200" b="1">
                <a:solidFill>
                  <a:srgbClr val="A6B9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A6B9FC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A6B9FC"/>
                </a:solidFill>
                <a:latin typeface="Arial"/>
                <a:ea typeface="Arial"/>
                <a:cs typeface="Arial"/>
              </a:rPr>
              <a:t>ENERGY STORAGE · MEETING BRIEF</a:t>
            </a:r>
          </a:p>
        </p:txBody>
      </p:sp>
      <p:sp>
        <p:nvSpPr>
          <p:cNvPr id="2" name="Product portfolio and interfaces">
            <a:extLst xmlns:a="http://schemas.openxmlformats.org/drawingml/2006/main">
              <a:ext uri="{FF2B5EF4-FFF2-40B4-BE49-F238E27FC236}">
                <a16:creationId xmlns:a16="http://schemas.microsoft.com/office/drawing/2014/main" id="{2C758B5B-E8D8-43B2-9F90-E1EBCC993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0858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4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4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4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4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4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4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4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4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4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4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Product portfolio and interfaces</a:t>
            </a:r>
          </a:p>
        </p:txBody>
      </p:sp>
      <p:sp>
        <p:nvSpPr>
          <p:cNvPr id="3" name="Customer meeting reference material">
            <a:extLst xmlns:a="http://schemas.openxmlformats.org/drawingml/2006/main">
              <a:ext uri="{FF2B5EF4-FFF2-40B4-BE49-F238E27FC236}">
                <a16:creationId xmlns:a16="http://schemas.microsoft.com/office/drawing/2014/main" id="{B72AFF28-89DE-448B-91AD-5009F72D6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0"/>
            <a:ext cx="10668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BFCBE9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BFCBE9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BFCBE9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BFCBE9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BFCBE9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BFCBE9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BFCBE9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BFCBE9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BFCBE9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BFCBE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BFCBE9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BFCBE9"/>
                </a:solidFill>
                <a:latin typeface="Arial"/>
                <a:ea typeface="Arial"/>
                <a:cs typeface="Arial"/>
              </a:rPr>
              <a:t>Customer meeting reference material</a:t>
            </a:r>
          </a:p>
        </p:txBody>
      </p:sp>
      <p:sp>
        <p:nvSpPr>
          <p:cNvPr id="4" name="MOCK · Illustrative guidance, not a">
            <a:extLst xmlns:a="http://schemas.openxmlformats.org/drawingml/2006/main">
              <a:ext uri="{FF2B5EF4-FFF2-40B4-BE49-F238E27FC236}">
                <a16:creationId xmlns:a16="http://schemas.microsoft.com/office/drawing/2014/main" id="{D68527EB-87E8-4F80-9D89-E98B8E6BD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10287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BFCBE9"/>
                </a:solidFill>
                <a:latin typeface="Arial"/>
                <a:ea typeface="Arial"/>
                <a:cs typeface="Arial"/>
              </a:defRPr>
            </a:defPPr>
            <a:lvl1pPr>
              <a:defRPr sz="975" b="0">
                <a:solidFill>
                  <a:srgbClr val="BFCBE9"/>
                </a:solidFill>
                <a:latin typeface="Arial"/>
                <a:ea typeface="Arial"/>
                <a:cs typeface="Arial"/>
              </a:defRPr>
            </a:lvl1pPr>
            <a:lvl2pPr>
              <a:defRPr sz="975" b="0">
                <a:solidFill>
                  <a:srgbClr val="BFCBE9"/>
                </a:solidFill>
                <a:latin typeface="Arial"/>
                <a:ea typeface="Arial"/>
                <a:cs typeface="Arial"/>
              </a:defRPr>
            </a:lvl2pPr>
            <a:lvl3pPr>
              <a:defRPr sz="975" b="0">
                <a:solidFill>
                  <a:srgbClr val="BFCBE9"/>
                </a:solidFill>
                <a:latin typeface="Arial"/>
                <a:ea typeface="Arial"/>
                <a:cs typeface="Arial"/>
              </a:defRPr>
            </a:lvl3pPr>
            <a:lvl4pPr>
              <a:defRPr sz="975" b="0">
                <a:solidFill>
                  <a:srgbClr val="BFCBE9"/>
                </a:solidFill>
                <a:latin typeface="Arial"/>
                <a:ea typeface="Arial"/>
                <a:cs typeface="Arial"/>
              </a:defRPr>
            </a:lvl4pPr>
            <a:lvl5pPr>
              <a:defRPr sz="975" b="0">
                <a:solidFill>
                  <a:srgbClr val="BFCBE9"/>
                </a:solidFill>
                <a:latin typeface="Arial"/>
                <a:ea typeface="Arial"/>
                <a:cs typeface="Arial"/>
              </a:defRPr>
            </a:lvl5pPr>
            <a:lvl6pPr>
              <a:defRPr sz="975" b="0">
                <a:solidFill>
                  <a:srgbClr val="BFCBE9"/>
                </a:solidFill>
                <a:latin typeface="Arial"/>
                <a:ea typeface="Arial"/>
                <a:cs typeface="Arial"/>
              </a:defRPr>
            </a:lvl6pPr>
            <a:lvl7pPr>
              <a:defRPr sz="975" b="0">
                <a:solidFill>
                  <a:srgbClr val="BFCBE9"/>
                </a:solidFill>
                <a:latin typeface="Arial"/>
                <a:ea typeface="Arial"/>
                <a:cs typeface="Arial"/>
              </a:defRPr>
            </a:lvl7pPr>
            <a:lvl8pPr>
              <a:defRPr sz="975" b="0">
                <a:solidFill>
                  <a:srgbClr val="BFCBE9"/>
                </a:solidFill>
                <a:latin typeface="Arial"/>
                <a:ea typeface="Arial"/>
                <a:cs typeface="Arial"/>
              </a:defRPr>
            </a:lvl8pPr>
            <a:lvl9pPr>
              <a:defRPr sz="975" b="0">
                <a:solidFill>
                  <a:srgbClr val="BFCBE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BFCBE9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BFCBE9"/>
                </a:solidFill>
                <a:latin typeface="Arial"/>
                <a:ea typeface="Arial"/>
                <a:cs typeface="Arial"/>
              </a:rPr>
              <a:t>MOCK · Illustrative guidance, not a supplier commitment</a:t>
            </a:r>
          </a:p>
        </p:txBody>
      </p:sp>
      <p:sp>
        <p:nvSpPr>
          <p:cNvPr id="5" name="1">
            <a:extLst xmlns:a="http://schemas.openxmlformats.org/drawingml/2006/main">
              <a:ext uri="{FF2B5EF4-FFF2-40B4-BE49-F238E27FC236}">
                <a16:creationId xmlns:a16="http://schemas.microsoft.com/office/drawing/2014/main" id="{1F9517D3-9485-4A01-8F54-8BF94C18F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34125"/>
            <a:ext cx="476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BFCBE9"/>
                </a:solidFill>
                <a:latin typeface="Arial"/>
                <a:ea typeface="Arial"/>
                <a:cs typeface="Arial"/>
              </a:defRPr>
            </a:defPPr>
            <a:lvl1pPr>
              <a:defRPr sz="1050" b="0">
                <a:solidFill>
                  <a:srgbClr val="BFCBE9"/>
                </a:solidFill>
                <a:latin typeface="Arial"/>
                <a:ea typeface="Arial"/>
                <a:cs typeface="Arial"/>
              </a:defRPr>
            </a:lvl1pPr>
            <a:lvl2pPr>
              <a:defRPr sz="1050" b="0">
                <a:solidFill>
                  <a:srgbClr val="BFCBE9"/>
                </a:solidFill>
                <a:latin typeface="Arial"/>
                <a:ea typeface="Arial"/>
                <a:cs typeface="Arial"/>
              </a:defRPr>
            </a:lvl2pPr>
            <a:lvl3pPr>
              <a:defRPr sz="1050" b="0">
                <a:solidFill>
                  <a:srgbClr val="BFCBE9"/>
                </a:solidFill>
                <a:latin typeface="Arial"/>
                <a:ea typeface="Arial"/>
                <a:cs typeface="Arial"/>
              </a:defRPr>
            </a:lvl3pPr>
            <a:lvl4pPr>
              <a:defRPr sz="1050" b="0">
                <a:solidFill>
                  <a:srgbClr val="BFCBE9"/>
                </a:solidFill>
                <a:latin typeface="Arial"/>
                <a:ea typeface="Arial"/>
                <a:cs typeface="Arial"/>
              </a:defRPr>
            </a:lvl4pPr>
            <a:lvl5pPr>
              <a:defRPr sz="1050" b="0">
                <a:solidFill>
                  <a:srgbClr val="BFCBE9"/>
                </a:solidFill>
                <a:latin typeface="Arial"/>
                <a:ea typeface="Arial"/>
                <a:cs typeface="Arial"/>
              </a:defRPr>
            </a:lvl5pPr>
            <a:lvl6pPr>
              <a:defRPr sz="1050" b="0">
                <a:solidFill>
                  <a:srgbClr val="BFCBE9"/>
                </a:solidFill>
                <a:latin typeface="Arial"/>
                <a:ea typeface="Arial"/>
                <a:cs typeface="Arial"/>
              </a:defRPr>
            </a:lvl6pPr>
            <a:lvl7pPr>
              <a:defRPr sz="1050" b="0">
                <a:solidFill>
                  <a:srgbClr val="BFCBE9"/>
                </a:solidFill>
                <a:latin typeface="Arial"/>
                <a:ea typeface="Arial"/>
                <a:cs typeface="Arial"/>
              </a:defRPr>
            </a:lvl7pPr>
            <a:lvl8pPr>
              <a:defRPr sz="1050" b="0">
                <a:solidFill>
                  <a:srgbClr val="BFCBE9"/>
                </a:solidFill>
                <a:latin typeface="Arial"/>
                <a:ea typeface="Arial"/>
                <a:cs typeface="Arial"/>
              </a:defRPr>
            </a:lvl8pPr>
            <a:lvl9pPr>
              <a:defRPr sz="1050" b="0">
                <a:solidFill>
                  <a:srgbClr val="BFCBE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BFCBE9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BFCBE9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04467251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ENERGY STORAGE">
            <a:extLst xmlns:a="http://schemas.openxmlformats.org/drawingml/2006/main">
              <a:ext uri="{FF2B5EF4-FFF2-40B4-BE49-F238E27FC236}">
                <a16:creationId xmlns:a16="http://schemas.microsoft.com/office/drawing/2014/main" id="{37A77920-4D51-4523-BA84-A4C0ECB96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defPPr>
            <a:lvl1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1pPr>
            <a:lvl2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2pPr>
            <a:lvl3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3pPr>
            <a:lvl4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4pPr>
            <a:lvl5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5pPr>
            <a:lvl6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6pPr>
            <a:lvl7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7pPr>
            <a:lvl8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8pPr>
            <a:lvl9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4F6CF7"/>
                </a:solidFill>
                <a:latin typeface="Arial"/>
                <a:ea typeface="Arial"/>
                <a:cs typeface="Arial"/>
              </a:rPr>
              <a:t>ENERGY STORAGE</a:t>
            </a:r>
          </a:p>
        </p:txBody>
      </p:sp>
      <p:sp>
        <p:nvSpPr>
          <p:cNvPr id="2" name="Product discussion framework">
            <a:extLst xmlns:a="http://schemas.openxmlformats.org/drawingml/2006/main">
              <a:ext uri="{FF2B5EF4-FFF2-40B4-BE49-F238E27FC236}">
                <a16:creationId xmlns:a16="http://schemas.microsoft.com/office/drawing/2014/main" id="{91A94B14-DF87-41C6-84A3-53E9ABAAA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10858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2345"/>
                </a:solidFill>
                <a:latin typeface="Arial"/>
                <a:ea typeface="Arial"/>
                <a:cs typeface="Arial"/>
              </a:rPr>
              <a:t>Product discussion framework</a:t>
            </a:r>
          </a:p>
        </p:txBody>
      </p:sp>
      <p:sp>
        <p:nvSpPr>
          <p:cNvPr id="3" name="• Match the product discussion to t">
            <a:extLst xmlns:a="http://schemas.openxmlformats.org/drawingml/2006/main">
              <a:ext uri="{FF2B5EF4-FFF2-40B4-BE49-F238E27FC236}">
                <a16:creationId xmlns:a16="http://schemas.microsoft.com/office/drawing/2014/main" id="{9A260071-CAC6-42B5-985F-9A2E5C7BA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05125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2708C"/>
                </a:solidFill>
                <a:latin typeface="Arial"/>
                <a:ea typeface="Arial"/>
                <a:cs typeface="Arial"/>
              </a:rPr>
              <a:t>• Match the product discussion to the use case</a:t>
            </a:r>
          </a:p>
        </p:txBody>
      </p:sp>
      <p:sp>
        <p:nvSpPr>
          <p:cNvPr id="4" name="• Confirm the applicable product do">
            <a:extLst xmlns:a="http://schemas.openxmlformats.org/drawingml/2006/main">
              <a:ext uri="{FF2B5EF4-FFF2-40B4-BE49-F238E27FC236}">
                <a16:creationId xmlns:a16="http://schemas.microsoft.com/office/drawing/2014/main" id="{F5F3BD76-4556-4D44-B6F3-57DE4D6C0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2708C"/>
                </a:solidFill>
                <a:latin typeface="Arial"/>
                <a:ea typeface="Arial"/>
                <a:cs typeface="Arial"/>
              </a:rPr>
              <a:t>• Confirm the applicable product documentation</a:t>
            </a:r>
          </a:p>
        </p:txBody>
      </p:sp>
      <p:sp>
        <p:nvSpPr>
          <p:cNvPr id="5" name="• Treat all example configurations ">
            <a:extLst xmlns:a="http://schemas.openxmlformats.org/drawingml/2006/main">
              <a:ext uri="{FF2B5EF4-FFF2-40B4-BE49-F238E27FC236}">
                <a16:creationId xmlns:a16="http://schemas.microsoft.com/office/drawing/2014/main" id="{081604A6-8041-485F-A80D-BDD66EC07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43375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2708C"/>
                </a:solidFill>
                <a:latin typeface="Arial"/>
                <a:ea typeface="Arial"/>
                <a:cs typeface="Arial"/>
              </a:rPr>
              <a:t>• Treat all example configurations as illustrative</a:t>
            </a:r>
          </a:p>
        </p:txBody>
      </p:sp>
      <p:sp>
        <p:nvSpPr>
          <p:cNvPr id="6" name="MOCK · Illustrative guidance, not a">
            <a:extLst xmlns:a="http://schemas.openxmlformats.org/drawingml/2006/main">
              <a:ext uri="{FF2B5EF4-FFF2-40B4-BE49-F238E27FC236}">
                <a16:creationId xmlns:a16="http://schemas.microsoft.com/office/drawing/2014/main" id="{4420EB12-F07E-40D7-B2FE-97B1F9768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10287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defPPr>
            <a:lvl1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1pPr>
            <a:lvl2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2pPr>
            <a:lvl3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3pPr>
            <a:lvl4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4pPr>
            <a:lvl5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5pPr>
            <a:lvl6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6pPr>
            <a:lvl7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7pPr>
            <a:lvl8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8pPr>
            <a:lvl9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2708C"/>
                </a:solidFill>
                <a:latin typeface="Arial"/>
                <a:ea typeface="Arial"/>
                <a:cs typeface="Arial"/>
              </a:rPr>
              <a:t>MOCK · Illustrative guidance, not a supplier commitment</a:t>
            </a:r>
          </a:p>
        </p:txBody>
      </p:sp>
      <p:sp>
        <p:nvSpPr>
          <p:cNvPr id="7" name="2">
            <a:extLst xmlns:a="http://schemas.openxmlformats.org/drawingml/2006/main">
              <a:ext uri="{FF2B5EF4-FFF2-40B4-BE49-F238E27FC236}">
                <a16:creationId xmlns:a16="http://schemas.microsoft.com/office/drawing/2014/main" id="{13109B0B-15E9-4E4B-9F8E-4E2A1D059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34125"/>
            <a:ext cx="476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defPPr>
            <a:lvl1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1pPr>
            <a:lvl2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2pPr>
            <a:lvl3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3pPr>
            <a:lvl4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4pPr>
            <a:lvl5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5pPr>
            <a:lvl6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6pPr>
            <a:lvl7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7pPr>
            <a:lvl8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8pPr>
            <a:lvl9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2708C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72158132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ENERGY STORAGE">
            <a:extLst xmlns:a="http://schemas.openxmlformats.org/drawingml/2006/main">
              <a:ext uri="{FF2B5EF4-FFF2-40B4-BE49-F238E27FC236}">
                <a16:creationId xmlns:a16="http://schemas.microsoft.com/office/drawing/2014/main" id="{163CAE74-7D67-48B8-A299-0DE75E2D4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defPPr>
            <a:lvl1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1pPr>
            <a:lvl2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2pPr>
            <a:lvl3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3pPr>
            <a:lvl4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4pPr>
            <a:lvl5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5pPr>
            <a:lvl6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6pPr>
            <a:lvl7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7pPr>
            <a:lvl8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8pPr>
            <a:lvl9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4F6CF7"/>
                </a:solidFill>
                <a:latin typeface="Arial"/>
                <a:ea typeface="Arial"/>
                <a:cs typeface="Arial"/>
              </a:rPr>
              <a:t>ENERGY STORAGE</a:t>
            </a:r>
          </a:p>
        </p:txBody>
      </p:sp>
      <p:sp>
        <p:nvSpPr>
          <p:cNvPr id="2" name="Battery and power conversion">
            <a:extLst xmlns:a="http://schemas.openxmlformats.org/drawingml/2006/main">
              <a:ext uri="{FF2B5EF4-FFF2-40B4-BE49-F238E27FC236}">
                <a16:creationId xmlns:a16="http://schemas.microsoft.com/office/drawing/2014/main" id="{0A8C1BC2-0324-4DE4-B02B-C10EC5932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10858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2345"/>
                </a:solidFill>
                <a:latin typeface="Arial"/>
                <a:ea typeface="Arial"/>
                <a:cs typeface="Arial"/>
              </a:rPr>
              <a:t>Battery and power conversion</a:t>
            </a:r>
          </a:p>
        </p:txBody>
      </p:sp>
      <p:sp>
        <p:nvSpPr>
          <p:cNvPr id="3" name="• Battery subsystems store energy">
            <a:extLst xmlns:a="http://schemas.openxmlformats.org/drawingml/2006/main">
              <a:ext uri="{FF2B5EF4-FFF2-40B4-BE49-F238E27FC236}">
                <a16:creationId xmlns:a16="http://schemas.microsoft.com/office/drawing/2014/main" id="{4282576F-5406-4537-A4A3-C00854E6A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05125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2708C"/>
                </a:solidFill>
                <a:latin typeface="Arial"/>
                <a:ea typeface="Arial"/>
                <a:cs typeface="Arial"/>
              </a:rPr>
              <a:t>• Battery subsystems store energy</a:t>
            </a:r>
          </a:p>
        </p:txBody>
      </p:sp>
      <p:sp>
        <p:nvSpPr>
          <p:cNvPr id="4" name="• Power conversion connects the bat">
            <a:extLst xmlns:a="http://schemas.openxmlformats.org/drawingml/2006/main">
              <a:ext uri="{FF2B5EF4-FFF2-40B4-BE49-F238E27FC236}">
                <a16:creationId xmlns:a16="http://schemas.microsoft.com/office/drawing/2014/main" id="{6722E87D-6A10-40D3-868F-94D13CEC1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2708C"/>
                </a:solidFill>
                <a:latin typeface="Arial"/>
                <a:ea typeface="Arial"/>
                <a:cs typeface="Arial"/>
              </a:rPr>
              <a:t>• Power conversion connects the battery and site</a:t>
            </a:r>
          </a:p>
        </p:txBody>
      </p:sp>
      <p:sp>
        <p:nvSpPr>
          <p:cNvPr id="5" name="• Ratings depend on the selected sp">
            <a:extLst xmlns:a="http://schemas.openxmlformats.org/drawingml/2006/main">
              <a:ext uri="{FF2B5EF4-FFF2-40B4-BE49-F238E27FC236}">
                <a16:creationId xmlns:a16="http://schemas.microsoft.com/office/drawing/2014/main" id="{200FCE10-7AEA-4BF4-B0CA-4DD93BABF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43375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2708C"/>
                </a:solidFill>
                <a:latin typeface="Arial"/>
                <a:ea typeface="Arial"/>
                <a:cs typeface="Arial"/>
              </a:rPr>
              <a:t>• Ratings depend on the selected specification</a:t>
            </a:r>
          </a:p>
        </p:txBody>
      </p:sp>
      <p:sp>
        <p:nvSpPr>
          <p:cNvPr id="6" name="MOCK · Illustrative guidance, not a">
            <a:extLst xmlns:a="http://schemas.openxmlformats.org/drawingml/2006/main">
              <a:ext uri="{FF2B5EF4-FFF2-40B4-BE49-F238E27FC236}">
                <a16:creationId xmlns:a16="http://schemas.microsoft.com/office/drawing/2014/main" id="{EBAFE232-2329-409C-A50A-D8BE6ACEB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10287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defPPr>
            <a:lvl1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1pPr>
            <a:lvl2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2pPr>
            <a:lvl3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3pPr>
            <a:lvl4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4pPr>
            <a:lvl5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5pPr>
            <a:lvl6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6pPr>
            <a:lvl7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7pPr>
            <a:lvl8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8pPr>
            <a:lvl9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2708C"/>
                </a:solidFill>
                <a:latin typeface="Arial"/>
                <a:ea typeface="Arial"/>
                <a:cs typeface="Arial"/>
              </a:rPr>
              <a:t>MOCK · Illustrative guidance, not a supplier commitment</a:t>
            </a:r>
          </a:p>
        </p:txBody>
      </p:sp>
      <p:sp>
        <p:nvSpPr>
          <p:cNvPr id="7" name="3">
            <a:extLst xmlns:a="http://schemas.openxmlformats.org/drawingml/2006/main">
              <a:ext uri="{FF2B5EF4-FFF2-40B4-BE49-F238E27FC236}">
                <a16:creationId xmlns:a16="http://schemas.microsoft.com/office/drawing/2014/main" id="{87416EB4-917E-4B8B-8EA5-431118202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34125"/>
            <a:ext cx="476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defPPr>
            <a:lvl1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1pPr>
            <a:lvl2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2pPr>
            <a:lvl3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3pPr>
            <a:lvl4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4pPr>
            <a:lvl5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5pPr>
            <a:lvl6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6pPr>
            <a:lvl7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7pPr>
            <a:lvl8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8pPr>
            <a:lvl9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2708C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56746570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ENERGY STORAGE">
            <a:extLst xmlns:a="http://schemas.openxmlformats.org/drawingml/2006/main">
              <a:ext uri="{FF2B5EF4-FFF2-40B4-BE49-F238E27FC236}">
                <a16:creationId xmlns:a16="http://schemas.microsoft.com/office/drawing/2014/main" id="{89818AC7-A419-420C-BCC0-E14CD352C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defPPr>
            <a:lvl1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1pPr>
            <a:lvl2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2pPr>
            <a:lvl3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3pPr>
            <a:lvl4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4pPr>
            <a:lvl5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5pPr>
            <a:lvl6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6pPr>
            <a:lvl7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7pPr>
            <a:lvl8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8pPr>
            <a:lvl9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4F6CF7"/>
                </a:solidFill>
                <a:latin typeface="Arial"/>
                <a:ea typeface="Arial"/>
                <a:cs typeface="Arial"/>
              </a:rPr>
              <a:t>ENERGY STORAGE</a:t>
            </a:r>
          </a:p>
        </p:txBody>
      </p:sp>
      <p:sp>
        <p:nvSpPr>
          <p:cNvPr id="2" name="Control and communication">
            <a:extLst xmlns:a="http://schemas.openxmlformats.org/drawingml/2006/main">
              <a:ext uri="{FF2B5EF4-FFF2-40B4-BE49-F238E27FC236}">
                <a16:creationId xmlns:a16="http://schemas.microsoft.com/office/drawing/2014/main" id="{C1B35973-27FB-48A8-BC5D-AB06F055B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10858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2345"/>
                </a:solidFill>
                <a:latin typeface="Arial"/>
                <a:ea typeface="Arial"/>
                <a:cs typeface="Arial"/>
              </a:rPr>
              <a:t>Control and communication</a:t>
            </a:r>
          </a:p>
        </p:txBody>
      </p:sp>
      <p:sp>
        <p:nvSpPr>
          <p:cNvPr id="3" name="Discussion focus">
            <a:extLst xmlns:a="http://schemas.openxmlformats.org/drawingml/2006/main">
              <a:ext uri="{FF2B5EF4-FFF2-40B4-BE49-F238E27FC236}">
                <a16:creationId xmlns:a16="http://schemas.microsoft.com/office/drawing/2014/main" id="{C357FBFF-6321-4037-8737-B6440AA5D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0"/>
            <a:ext cx="5143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72345"/>
                </a:solidFill>
                <a:latin typeface="Arial"/>
                <a:ea typeface="Arial"/>
                <a:cs typeface="Arial"/>
              </a:rPr>
              <a:t>Discussion focus</a:t>
            </a:r>
          </a:p>
        </p:txBody>
      </p:sp>
      <p:sp>
        <p:nvSpPr>
          <p:cNvPr id="4" name="• Identify management and monitorin">
            <a:extLst xmlns:a="http://schemas.openxmlformats.org/drawingml/2006/main">
              <a:ext uri="{FF2B5EF4-FFF2-40B4-BE49-F238E27FC236}">
                <a16:creationId xmlns:a16="http://schemas.microsoft.com/office/drawing/2014/main" id="{03664387-A5BA-4E8C-AB86-DB4EB759A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76625"/>
            <a:ext cx="5143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2708C"/>
                </a:solidFill>
                <a:latin typeface="Arial"/>
                <a:ea typeface="Arial"/>
                <a:cs typeface="Arial"/>
              </a:rPr>
              <a:t>• Identify management and monitoring interfaces</a:t>
            </a:r>
          </a:p>
        </p:txBody>
      </p:sp>
      <p:sp>
        <p:nvSpPr>
          <p:cNvPr id="5" name="• Document site communication respo">
            <a:extLst xmlns:a="http://schemas.openxmlformats.org/drawingml/2006/main">
              <a:ext uri="{FF2B5EF4-FFF2-40B4-BE49-F238E27FC236}">
                <a16:creationId xmlns:a16="http://schemas.microsoft.com/office/drawing/2014/main" id="{2F907523-3511-408F-B109-CC6F7FAA9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48125"/>
            <a:ext cx="5143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2708C"/>
                </a:solidFill>
                <a:latin typeface="Arial"/>
                <a:ea typeface="Arial"/>
                <a:cs typeface="Arial"/>
              </a:rPr>
              <a:t>• Document site communication responsibilities</a:t>
            </a:r>
          </a:p>
        </p:txBody>
      </p:sp>
      <p:sp>
        <p:nvSpPr>
          <p:cNvPr id="6" name="Customer confirmation">
            <a:extLst xmlns:a="http://schemas.openxmlformats.org/drawingml/2006/main">
              <a:ext uri="{FF2B5EF4-FFF2-40B4-BE49-F238E27FC236}">
                <a16:creationId xmlns:a16="http://schemas.microsoft.com/office/drawing/2014/main" id="{7582AC48-DDDA-4C68-8161-1B42BE81F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857500"/>
            <a:ext cx="5143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72345"/>
                </a:solidFill>
                <a:latin typeface="Arial"/>
                <a:ea typeface="Arial"/>
                <a:cs typeface="Arial"/>
              </a:rPr>
              <a:t>Customer confirmation</a:t>
            </a:r>
          </a:p>
        </p:txBody>
      </p:sp>
      <p:sp>
        <p:nvSpPr>
          <p:cNvPr id="7" name="• Check requirements with the techn">
            <a:extLst xmlns:a="http://schemas.openxmlformats.org/drawingml/2006/main">
              <a:ext uri="{FF2B5EF4-FFF2-40B4-BE49-F238E27FC236}">
                <a16:creationId xmlns:a16="http://schemas.microsoft.com/office/drawing/2014/main" id="{4B59A9BF-23A7-455E-A371-11C857255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476625"/>
            <a:ext cx="5143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2708C"/>
                </a:solidFill>
                <a:latin typeface="Arial"/>
                <a:ea typeface="Arial"/>
                <a:cs typeface="Arial"/>
              </a:rPr>
              <a:t>• Check requirements with the technical team</a:t>
            </a:r>
          </a:p>
        </p:txBody>
      </p:sp>
      <p:sp>
        <p:nvSpPr>
          <p:cNvPr id="8" name="• Record unresolved items and owner">
            <a:extLst xmlns:a="http://schemas.openxmlformats.org/drawingml/2006/main">
              <a:ext uri="{FF2B5EF4-FFF2-40B4-BE49-F238E27FC236}">
                <a16:creationId xmlns:a16="http://schemas.microsoft.com/office/drawing/2014/main" id="{24A2CF39-22C2-4826-AEE5-BE9C77A96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048125"/>
            <a:ext cx="5143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2708C"/>
                </a:solidFill>
                <a:latin typeface="Arial"/>
                <a:ea typeface="Arial"/>
                <a:cs typeface="Arial"/>
              </a:rPr>
              <a:t>• Record unresolved items and owners</a:t>
            </a:r>
          </a:p>
        </p:txBody>
      </p:sp>
      <p:sp>
        <p:nvSpPr>
          <p:cNvPr id="9" name="MOCK · Illustrative guidance, not a">
            <a:extLst xmlns:a="http://schemas.openxmlformats.org/drawingml/2006/main">
              <a:ext uri="{FF2B5EF4-FFF2-40B4-BE49-F238E27FC236}">
                <a16:creationId xmlns:a16="http://schemas.microsoft.com/office/drawing/2014/main" id="{3E6954BA-B75E-4CED-9172-F9D57C369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10287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defPPr>
            <a:lvl1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1pPr>
            <a:lvl2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2pPr>
            <a:lvl3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3pPr>
            <a:lvl4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4pPr>
            <a:lvl5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5pPr>
            <a:lvl6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6pPr>
            <a:lvl7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7pPr>
            <a:lvl8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8pPr>
            <a:lvl9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2708C"/>
                </a:solidFill>
                <a:latin typeface="Arial"/>
                <a:ea typeface="Arial"/>
                <a:cs typeface="Arial"/>
              </a:rPr>
              <a:t>MOCK · Illustrative guidance, not a supplier commitment</a:t>
            </a:r>
          </a:p>
        </p:txBody>
      </p:sp>
      <p:sp>
        <p:nvSpPr>
          <p:cNvPr id="10" name="4">
            <a:extLst xmlns:a="http://schemas.openxmlformats.org/drawingml/2006/main">
              <a:ext uri="{FF2B5EF4-FFF2-40B4-BE49-F238E27FC236}">
                <a16:creationId xmlns:a16="http://schemas.microsoft.com/office/drawing/2014/main" id="{D969B23F-8701-47FF-80BE-9B4054FB8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34125"/>
            <a:ext cx="476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defPPr>
            <a:lvl1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1pPr>
            <a:lvl2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2pPr>
            <a:lvl3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3pPr>
            <a:lvl4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4pPr>
            <a:lvl5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5pPr>
            <a:lvl6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6pPr>
            <a:lvl7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7pPr>
            <a:lvl8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8pPr>
            <a:lvl9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2708C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82950872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ENERGY STORAGE">
            <a:extLst xmlns:a="http://schemas.openxmlformats.org/drawingml/2006/main">
              <a:ext uri="{FF2B5EF4-FFF2-40B4-BE49-F238E27FC236}">
                <a16:creationId xmlns:a16="http://schemas.microsoft.com/office/drawing/2014/main" id="{3D82AA8A-96EA-467C-9E4B-F7D8E3166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defPPr>
            <a:lvl1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1pPr>
            <a:lvl2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2pPr>
            <a:lvl3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3pPr>
            <a:lvl4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4pPr>
            <a:lvl5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5pPr>
            <a:lvl6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6pPr>
            <a:lvl7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7pPr>
            <a:lvl8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8pPr>
            <a:lvl9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4F6CF7"/>
                </a:solidFill>
                <a:latin typeface="Arial"/>
                <a:ea typeface="Arial"/>
                <a:cs typeface="Arial"/>
              </a:rPr>
              <a:t>ENERGY STORAGE</a:t>
            </a:r>
          </a:p>
        </p:txBody>
      </p:sp>
      <p:sp>
        <p:nvSpPr>
          <p:cNvPr id="2" name="Safety information">
            <a:extLst xmlns:a="http://schemas.openxmlformats.org/drawingml/2006/main">
              <a:ext uri="{FF2B5EF4-FFF2-40B4-BE49-F238E27FC236}">
                <a16:creationId xmlns:a16="http://schemas.microsoft.com/office/drawing/2014/main" id="{9F2DFEA6-2B5E-4907-8CDD-E18A7C223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10858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2345"/>
                </a:solidFill>
                <a:latin typeface="Arial"/>
                <a:ea typeface="Arial"/>
                <a:cs typeface="Arial"/>
              </a:rPr>
              <a:t>Safety information</a:t>
            </a:r>
          </a:p>
        </p:txBody>
      </p:sp>
      <p:sp>
        <p:nvSpPr>
          <p:cNvPr id="3" name="• Discuss hazards and responsibilit">
            <a:extLst xmlns:a="http://schemas.openxmlformats.org/drawingml/2006/main">
              <a:ext uri="{FF2B5EF4-FFF2-40B4-BE49-F238E27FC236}">
                <a16:creationId xmlns:a16="http://schemas.microsoft.com/office/drawing/2014/main" id="{59A99B8D-B7CB-40BB-BC35-96C4F4B3D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05125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2708C"/>
                </a:solidFill>
                <a:latin typeface="Arial"/>
                <a:ea typeface="Arial"/>
                <a:cs typeface="Arial"/>
              </a:rPr>
              <a:t>• Discuss hazards and responsibilities across the lifecycle</a:t>
            </a:r>
          </a:p>
        </p:txBody>
      </p:sp>
      <p:sp>
        <p:nvSpPr>
          <p:cNvPr id="4" name="• Use applicable test and safety do">
            <a:extLst xmlns:a="http://schemas.openxmlformats.org/drawingml/2006/main">
              <a:ext uri="{FF2B5EF4-FFF2-40B4-BE49-F238E27FC236}">
                <a16:creationId xmlns:a16="http://schemas.microsoft.com/office/drawing/2014/main" id="{87D91D43-D53A-4696-86FB-B2057AF70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2708C"/>
                </a:solidFill>
                <a:latin typeface="Arial"/>
                <a:ea typeface="Arial"/>
                <a:cs typeface="Arial"/>
              </a:rPr>
              <a:t>• Use applicable test and safety documents</a:t>
            </a:r>
          </a:p>
        </p:txBody>
      </p:sp>
      <p:sp>
        <p:nvSpPr>
          <p:cNvPr id="5" name="• Confirm product specific requirem">
            <a:extLst xmlns:a="http://schemas.openxmlformats.org/drawingml/2006/main">
              <a:ext uri="{FF2B5EF4-FFF2-40B4-BE49-F238E27FC236}">
                <a16:creationId xmlns:a16="http://schemas.microsoft.com/office/drawing/2014/main" id="{3FBFD5E7-7AC4-4F45-BD5A-679A07377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43375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2708C"/>
                </a:solidFill>
                <a:latin typeface="Arial"/>
                <a:ea typeface="Arial"/>
                <a:cs typeface="Arial"/>
              </a:rPr>
              <a:t>• Confirm product specific requirements with specialists</a:t>
            </a:r>
          </a:p>
        </p:txBody>
      </p:sp>
      <p:sp>
        <p:nvSpPr>
          <p:cNvPr id="6" name="MOCK · Illustrative guidance, not a">
            <a:extLst xmlns:a="http://schemas.openxmlformats.org/drawingml/2006/main">
              <a:ext uri="{FF2B5EF4-FFF2-40B4-BE49-F238E27FC236}">
                <a16:creationId xmlns:a16="http://schemas.microsoft.com/office/drawing/2014/main" id="{87768FEB-E994-4623-B39A-3A68D28B1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10287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defPPr>
            <a:lvl1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1pPr>
            <a:lvl2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2pPr>
            <a:lvl3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3pPr>
            <a:lvl4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4pPr>
            <a:lvl5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5pPr>
            <a:lvl6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6pPr>
            <a:lvl7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7pPr>
            <a:lvl8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8pPr>
            <a:lvl9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2708C"/>
                </a:solidFill>
                <a:latin typeface="Arial"/>
                <a:ea typeface="Arial"/>
                <a:cs typeface="Arial"/>
              </a:rPr>
              <a:t>MOCK · Illustrative guidance, not a supplier commitment</a:t>
            </a:r>
          </a:p>
        </p:txBody>
      </p:sp>
      <p:sp>
        <p:nvSpPr>
          <p:cNvPr id="7" name="5">
            <a:extLst xmlns:a="http://schemas.openxmlformats.org/drawingml/2006/main">
              <a:ext uri="{FF2B5EF4-FFF2-40B4-BE49-F238E27FC236}">
                <a16:creationId xmlns:a16="http://schemas.microsoft.com/office/drawing/2014/main" id="{6DBE3220-65D3-4DCC-BC2A-BD22BCCF5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34125"/>
            <a:ext cx="476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defPPr>
            <a:lvl1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1pPr>
            <a:lvl2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2pPr>
            <a:lvl3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3pPr>
            <a:lvl4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4pPr>
            <a:lvl5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5pPr>
            <a:lvl6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6pPr>
            <a:lvl7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7pPr>
            <a:lvl8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8pPr>
            <a:lvl9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2708C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30765517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ENERGY STORAGE">
            <a:extLst xmlns:a="http://schemas.openxmlformats.org/drawingml/2006/main">
              <a:ext uri="{FF2B5EF4-FFF2-40B4-BE49-F238E27FC236}">
                <a16:creationId xmlns:a16="http://schemas.microsoft.com/office/drawing/2014/main" id="{F40983F8-1F53-4CA5-95E2-7F1A3E90C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defPPr>
            <a:lvl1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1pPr>
            <a:lvl2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2pPr>
            <a:lvl3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3pPr>
            <a:lvl4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4pPr>
            <a:lvl5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5pPr>
            <a:lvl6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6pPr>
            <a:lvl7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7pPr>
            <a:lvl8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8pPr>
            <a:lvl9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4F6CF7"/>
                </a:solidFill>
                <a:latin typeface="Arial"/>
                <a:ea typeface="Arial"/>
                <a:cs typeface="Arial"/>
              </a:rPr>
              <a:t>ENERGY STORAGE</a:t>
            </a:r>
          </a:p>
        </p:txBody>
      </p:sp>
      <p:sp>
        <p:nvSpPr>
          <p:cNvPr id="2" name="Selection inputs">
            <a:extLst xmlns:a="http://schemas.openxmlformats.org/drawingml/2006/main">
              <a:ext uri="{FF2B5EF4-FFF2-40B4-BE49-F238E27FC236}">
                <a16:creationId xmlns:a16="http://schemas.microsoft.com/office/drawing/2014/main" id="{80413490-2BC9-4AF1-AADF-59F9C900E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10858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2345"/>
                </a:solidFill>
                <a:latin typeface="Arial"/>
                <a:ea typeface="Arial"/>
                <a:cs typeface="Arial"/>
              </a:rPr>
              <a:t>Selection inputs</a:t>
            </a:r>
          </a:p>
        </p:txBody>
      </p:sp>
      <p:sp>
        <p:nvSpPr>
          <p:cNvPr id="3" name="• Application and operating environ">
            <a:extLst xmlns:a="http://schemas.openxmlformats.org/drawingml/2006/main">
              <a:ext uri="{FF2B5EF4-FFF2-40B4-BE49-F238E27FC236}">
                <a16:creationId xmlns:a16="http://schemas.microsoft.com/office/drawing/2014/main" id="{28BF3835-932E-477F-A9A1-F30E1EA36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05125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2708C"/>
                </a:solidFill>
                <a:latin typeface="Arial"/>
                <a:ea typeface="Arial"/>
                <a:cs typeface="Arial"/>
              </a:rPr>
              <a:t>• Application and operating environment</a:t>
            </a:r>
          </a:p>
        </p:txBody>
      </p:sp>
      <p:sp>
        <p:nvSpPr>
          <p:cNvPr id="4" name="• Connection and system interface r">
            <a:extLst xmlns:a="http://schemas.openxmlformats.org/drawingml/2006/main">
              <a:ext uri="{FF2B5EF4-FFF2-40B4-BE49-F238E27FC236}">
                <a16:creationId xmlns:a16="http://schemas.microsoft.com/office/drawing/2014/main" id="{F5DCB2FA-7208-4C2D-89EC-1ADE3A02A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2708C"/>
                </a:solidFill>
                <a:latin typeface="Arial"/>
                <a:ea typeface="Arial"/>
                <a:cs typeface="Arial"/>
              </a:rPr>
              <a:t>• Connection and system interface requirements</a:t>
            </a:r>
          </a:p>
        </p:txBody>
      </p:sp>
      <p:sp>
        <p:nvSpPr>
          <p:cNvPr id="5" name="• Service scope and verification co">
            <a:extLst xmlns:a="http://schemas.openxmlformats.org/drawingml/2006/main">
              <a:ext uri="{FF2B5EF4-FFF2-40B4-BE49-F238E27FC236}">
                <a16:creationId xmlns:a16="http://schemas.microsoft.com/office/drawing/2014/main" id="{8BDBE7A6-56D1-4CE3-B256-ACB71C188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43375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2708C"/>
                </a:solidFill>
                <a:latin typeface="Arial"/>
                <a:ea typeface="Arial"/>
                <a:cs typeface="Arial"/>
              </a:rPr>
              <a:t>• Service scope and verification conditions</a:t>
            </a:r>
          </a:p>
        </p:txBody>
      </p:sp>
      <p:sp>
        <p:nvSpPr>
          <p:cNvPr id="6" name="MOCK · Illustrative guidance, not a">
            <a:extLst xmlns:a="http://schemas.openxmlformats.org/drawingml/2006/main">
              <a:ext uri="{FF2B5EF4-FFF2-40B4-BE49-F238E27FC236}">
                <a16:creationId xmlns:a16="http://schemas.microsoft.com/office/drawing/2014/main" id="{2F0F4DF5-8B43-4668-B951-6CF9169CF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10287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defPPr>
            <a:lvl1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1pPr>
            <a:lvl2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2pPr>
            <a:lvl3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3pPr>
            <a:lvl4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4pPr>
            <a:lvl5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5pPr>
            <a:lvl6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6pPr>
            <a:lvl7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7pPr>
            <a:lvl8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8pPr>
            <a:lvl9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2708C"/>
                </a:solidFill>
                <a:latin typeface="Arial"/>
                <a:ea typeface="Arial"/>
                <a:cs typeface="Arial"/>
              </a:rPr>
              <a:t>MOCK · Illustrative guidance, not a supplier commitment</a:t>
            </a:r>
          </a:p>
        </p:txBody>
      </p:sp>
      <p:sp>
        <p:nvSpPr>
          <p:cNvPr id="7" name="6">
            <a:extLst xmlns:a="http://schemas.openxmlformats.org/drawingml/2006/main">
              <a:ext uri="{FF2B5EF4-FFF2-40B4-BE49-F238E27FC236}">
                <a16:creationId xmlns:a16="http://schemas.microsoft.com/office/drawing/2014/main" id="{A0DD2C61-A3A5-47EE-88F0-C89CAA0AD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34125"/>
            <a:ext cx="476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defPPr>
            <a:lvl1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1pPr>
            <a:lvl2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2pPr>
            <a:lvl3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3pPr>
            <a:lvl4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4pPr>
            <a:lvl5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5pPr>
            <a:lvl6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6pPr>
            <a:lvl7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7pPr>
            <a:lvl8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8pPr>
            <a:lvl9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2708C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57332761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ENERGY STORAGE">
            <a:extLst xmlns:a="http://schemas.openxmlformats.org/drawingml/2006/main">
              <a:ext uri="{FF2B5EF4-FFF2-40B4-BE49-F238E27FC236}">
                <a16:creationId xmlns:a16="http://schemas.microsoft.com/office/drawing/2014/main" id="{DFCC5C05-770A-46CF-94CE-136FD29CA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defPPr>
            <a:lvl1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1pPr>
            <a:lvl2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2pPr>
            <a:lvl3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3pPr>
            <a:lvl4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4pPr>
            <a:lvl5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5pPr>
            <a:lvl6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6pPr>
            <a:lvl7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7pPr>
            <a:lvl8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8pPr>
            <a:lvl9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4F6CF7"/>
                </a:solidFill>
                <a:latin typeface="Arial"/>
                <a:ea typeface="Arial"/>
                <a:cs typeface="Arial"/>
              </a:rPr>
              <a:t>ENERGY STORAGE</a:t>
            </a:r>
          </a:p>
        </p:txBody>
      </p:sp>
      <p:sp>
        <p:nvSpPr>
          <p:cNvPr id="2" name="Product clarification">
            <a:extLst xmlns:a="http://schemas.openxmlformats.org/drawingml/2006/main">
              <a:ext uri="{FF2B5EF4-FFF2-40B4-BE49-F238E27FC236}">
                <a16:creationId xmlns:a16="http://schemas.microsoft.com/office/drawing/2014/main" id="{00FBBF92-3CE5-479D-A373-8B30D5879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10858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2345"/>
                </a:solidFill>
                <a:latin typeface="Arial"/>
                <a:ea typeface="Arial"/>
                <a:cs typeface="Arial"/>
              </a:rPr>
              <a:t>Product clarification</a:t>
            </a:r>
          </a:p>
        </p:txBody>
      </p:sp>
      <p:sp>
        <p:nvSpPr>
          <p:cNvPr id="3" name="• Which configuration is being eval">
            <a:extLst xmlns:a="http://schemas.openxmlformats.org/drawingml/2006/main">
              <a:ext uri="{FF2B5EF4-FFF2-40B4-BE49-F238E27FC236}">
                <a16:creationId xmlns:a16="http://schemas.microsoft.com/office/drawing/2014/main" id="{FE7FFF89-2A42-47CB-B150-DDB7027EC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05125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2708C"/>
                </a:solidFill>
                <a:latin typeface="Arial"/>
                <a:ea typeface="Arial"/>
                <a:cs typeface="Arial"/>
              </a:rPr>
              <a:t>• Which configuration is being evaluated?</a:t>
            </a:r>
          </a:p>
        </p:txBody>
      </p:sp>
      <p:sp>
        <p:nvSpPr>
          <p:cNvPr id="4" name="• Which parameters require a confir">
            <a:extLst xmlns:a="http://schemas.openxmlformats.org/drawingml/2006/main">
              <a:ext uri="{FF2B5EF4-FFF2-40B4-BE49-F238E27FC236}">
                <a16:creationId xmlns:a16="http://schemas.microsoft.com/office/drawing/2014/main" id="{C209AA2A-56BD-42CF-95E7-BC220918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2708C"/>
                </a:solidFill>
                <a:latin typeface="Arial"/>
                <a:ea typeface="Arial"/>
                <a:cs typeface="Arial"/>
              </a:rPr>
              <a:t>• Which parameters require a confirmed specification?</a:t>
            </a:r>
          </a:p>
        </p:txBody>
      </p:sp>
      <p:sp>
        <p:nvSpPr>
          <p:cNvPr id="5" name="• What should the next technical re">
            <a:extLst xmlns:a="http://schemas.openxmlformats.org/drawingml/2006/main">
              <a:ext uri="{FF2B5EF4-FFF2-40B4-BE49-F238E27FC236}">
                <a16:creationId xmlns:a16="http://schemas.microsoft.com/office/drawing/2014/main" id="{7F4C980C-7055-4054-B94C-812F1AD7E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43375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2708C"/>
                </a:solidFill>
                <a:latin typeface="Arial"/>
                <a:ea typeface="Arial"/>
                <a:cs typeface="Arial"/>
              </a:rPr>
              <a:t>• What should the next technical review resolve?</a:t>
            </a:r>
          </a:p>
        </p:txBody>
      </p:sp>
      <p:sp>
        <p:nvSpPr>
          <p:cNvPr id="6" name="MOCK · Illustrative guidance, not a">
            <a:extLst xmlns:a="http://schemas.openxmlformats.org/drawingml/2006/main">
              <a:ext uri="{FF2B5EF4-FFF2-40B4-BE49-F238E27FC236}">
                <a16:creationId xmlns:a16="http://schemas.microsoft.com/office/drawing/2014/main" id="{B2DFC891-6A7F-4235-AA9D-871183911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10287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defPPr>
            <a:lvl1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1pPr>
            <a:lvl2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2pPr>
            <a:lvl3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3pPr>
            <a:lvl4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4pPr>
            <a:lvl5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5pPr>
            <a:lvl6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6pPr>
            <a:lvl7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7pPr>
            <a:lvl8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8pPr>
            <a:lvl9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2708C"/>
                </a:solidFill>
                <a:latin typeface="Arial"/>
                <a:ea typeface="Arial"/>
                <a:cs typeface="Arial"/>
              </a:rPr>
              <a:t>MOCK · Illustrative guidance, not a supplier commitment</a:t>
            </a:r>
          </a:p>
        </p:txBody>
      </p:sp>
      <p:sp>
        <p:nvSpPr>
          <p:cNvPr id="7" name="7">
            <a:extLst xmlns:a="http://schemas.openxmlformats.org/drawingml/2006/main">
              <a:ext uri="{FF2B5EF4-FFF2-40B4-BE49-F238E27FC236}">
                <a16:creationId xmlns:a16="http://schemas.microsoft.com/office/drawing/2014/main" id="{8BA20876-5737-4D03-B73C-289E53955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34125"/>
            <a:ext cx="476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defPPr>
            <a:lvl1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1pPr>
            <a:lvl2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2pPr>
            <a:lvl3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3pPr>
            <a:lvl4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4pPr>
            <a:lvl5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5pPr>
            <a:lvl6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6pPr>
            <a:lvl7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7pPr>
            <a:lvl8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8pPr>
            <a:lvl9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2708C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68034747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ENERGY STORAGE">
            <a:extLst xmlns:a="http://schemas.openxmlformats.org/drawingml/2006/main">
              <a:ext uri="{FF2B5EF4-FFF2-40B4-BE49-F238E27FC236}">
                <a16:creationId xmlns:a16="http://schemas.microsoft.com/office/drawing/2014/main" id="{B1F273F1-AD8C-4087-B81D-2EE6DAA6C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defPPr>
            <a:lvl1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1pPr>
            <a:lvl2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2pPr>
            <a:lvl3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3pPr>
            <a:lvl4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4pPr>
            <a:lvl5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5pPr>
            <a:lvl6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6pPr>
            <a:lvl7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7pPr>
            <a:lvl8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8pPr>
            <a:lvl9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4F6CF7"/>
                </a:solidFill>
                <a:latin typeface="Arial"/>
                <a:ea typeface="Arial"/>
                <a:cs typeface="Arial"/>
              </a:rPr>
              <a:t>ENERGY STORAGE</a:t>
            </a:r>
          </a:p>
        </p:txBody>
      </p:sp>
      <p:sp>
        <p:nvSpPr>
          <p:cNvPr id="2" name="Discussion and next steps">
            <a:extLst xmlns:a="http://schemas.openxmlformats.org/drawingml/2006/main">
              <a:ext uri="{FF2B5EF4-FFF2-40B4-BE49-F238E27FC236}">
                <a16:creationId xmlns:a16="http://schemas.microsoft.com/office/drawing/2014/main" id="{2676C138-821D-441A-AE18-B1EDBA561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10858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2345"/>
                </a:solidFill>
                <a:latin typeface="Arial"/>
                <a:ea typeface="Arial"/>
                <a:cs typeface="Arial"/>
              </a:rPr>
              <a:t>Discussion and next steps</a:t>
            </a:r>
          </a:p>
        </p:txBody>
      </p:sp>
      <p:sp>
        <p:nvSpPr>
          <p:cNvPr id="3" name="• Confirm the customer priorities">
            <a:extLst xmlns:a="http://schemas.openxmlformats.org/drawingml/2006/main">
              <a:ext uri="{FF2B5EF4-FFF2-40B4-BE49-F238E27FC236}">
                <a16:creationId xmlns:a16="http://schemas.microsoft.com/office/drawing/2014/main" id="{204A14BB-951E-4F68-AA8A-7607F0934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05125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2708C"/>
                </a:solidFill>
                <a:latin typeface="Arial"/>
                <a:ea typeface="Arial"/>
                <a:cs typeface="Arial"/>
              </a:rPr>
              <a:t>• Confirm the customer priorities</a:t>
            </a:r>
          </a:p>
        </p:txBody>
      </p:sp>
      <p:sp>
        <p:nvSpPr>
          <p:cNvPr id="4" name="• Agree owners for open questions">
            <a:extLst xmlns:a="http://schemas.openxmlformats.org/drawingml/2006/main">
              <a:ext uri="{FF2B5EF4-FFF2-40B4-BE49-F238E27FC236}">
                <a16:creationId xmlns:a16="http://schemas.microsoft.com/office/drawing/2014/main" id="{66D1F338-10AE-4DAC-9D42-065E3A62F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2708C"/>
                </a:solidFill>
                <a:latin typeface="Arial"/>
                <a:ea typeface="Arial"/>
                <a:cs typeface="Arial"/>
              </a:rPr>
              <a:t>• Agree owners for open questions</a:t>
            </a:r>
          </a:p>
        </p:txBody>
      </p:sp>
      <p:sp>
        <p:nvSpPr>
          <p:cNvPr id="5" name="• Set the next review milestone">
            <a:extLst xmlns:a="http://schemas.openxmlformats.org/drawingml/2006/main">
              <a:ext uri="{FF2B5EF4-FFF2-40B4-BE49-F238E27FC236}">
                <a16:creationId xmlns:a16="http://schemas.microsoft.com/office/drawing/2014/main" id="{77099322-20F2-4668-B5C6-E50FB2652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43375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2708C"/>
                </a:solidFill>
                <a:latin typeface="Arial"/>
                <a:ea typeface="Arial"/>
                <a:cs typeface="Arial"/>
              </a:rPr>
              <a:t>• Set the next review milestone</a:t>
            </a:r>
          </a:p>
        </p:txBody>
      </p:sp>
      <p:sp>
        <p:nvSpPr>
          <p:cNvPr id="6" name="MOCK · Illustrative guidance, not a">
            <a:extLst xmlns:a="http://schemas.openxmlformats.org/drawingml/2006/main">
              <a:ext uri="{FF2B5EF4-FFF2-40B4-BE49-F238E27FC236}">
                <a16:creationId xmlns:a16="http://schemas.microsoft.com/office/drawing/2014/main" id="{F01FF211-4094-4B67-B604-C3E7BEDE7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10287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defPPr>
            <a:lvl1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1pPr>
            <a:lvl2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2pPr>
            <a:lvl3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3pPr>
            <a:lvl4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4pPr>
            <a:lvl5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5pPr>
            <a:lvl6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6pPr>
            <a:lvl7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7pPr>
            <a:lvl8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8pPr>
            <a:lvl9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2708C"/>
                </a:solidFill>
                <a:latin typeface="Arial"/>
                <a:ea typeface="Arial"/>
                <a:cs typeface="Arial"/>
              </a:rPr>
              <a:t>MOCK · Illustrative guidance, not a supplier commitment</a:t>
            </a:r>
          </a:p>
        </p:txBody>
      </p:sp>
      <p:sp>
        <p:nvSpPr>
          <p:cNvPr id="7" name="8">
            <a:extLst xmlns:a="http://schemas.openxmlformats.org/drawingml/2006/main">
              <a:ext uri="{FF2B5EF4-FFF2-40B4-BE49-F238E27FC236}">
                <a16:creationId xmlns:a16="http://schemas.microsoft.com/office/drawing/2014/main" id="{1BE6ABBE-BBAA-470B-BAB8-93E2D699C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34125"/>
            <a:ext cx="476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defPPr>
            <a:lvl1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1pPr>
            <a:lvl2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2pPr>
            <a:lvl3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3pPr>
            <a:lvl4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4pPr>
            <a:lvl5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5pPr>
            <a:lvl6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6pPr>
            <a:lvl7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7pPr>
            <a:lvl8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8pPr>
            <a:lvl9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2708C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00854349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2026-10-25T17:21:20.2850000Z</dcterms:created>
  <dcterms:modified xsi:type="dcterms:W3CDTF">2026-10-25T17:21:20.2850000Z</dcterms:modified>
</coreProperties>
</file>