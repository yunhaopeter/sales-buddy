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fe3d4da2a4d54" /><Relationship Type="http://schemas.openxmlformats.org/officeDocument/2006/relationships/extended-properties" Target="/docProps/app.xml" Id="R592e346732564a32" /><Relationship Type="http://schemas.openxmlformats.org/officeDocument/2006/relationships/officeDocument" Target="/ppt/presentation.xml" Id="R7ed1930f532a47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cd359e8174a52"/>
  </p:sldMasterIdLst>
  <p:notesMasterIdLst>
    <p:notesMasterId xmlns:r="http://schemas.openxmlformats.org/officeDocument/2006/relationships" r:id="R7768bc8b93404034"/>
  </p:notesMasterIdLst>
  <p:sldIdLst>
    <p:sldId xmlns:r="http://schemas.openxmlformats.org/officeDocument/2006/relationships" id="256" r:id="Reb5214bb79cd49b9"/>
    <p:sldId xmlns:r="http://schemas.openxmlformats.org/officeDocument/2006/relationships" id="257" r:id="R71a5febbdae545d4"/>
    <p:sldId xmlns:r="http://schemas.openxmlformats.org/officeDocument/2006/relationships" id="258" r:id="Rcbe664d8be934c5e"/>
    <p:sldId xmlns:r="http://schemas.openxmlformats.org/officeDocument/2006/relationships" id="259" r:id="R058e1dbd957d4793"/>
    <p:sldId xmlns:r="http://schemas.openxmlformats.org/officeDocument/2006/relationships" id="260" r:id="Rfd5b702d1d994e67"/>
    <p:sldId xmlns:r="http://schemas.openxmlformats.org/officeDocument/2006/relationships" id="261" r:id="R8f7a08f7bdd94948"/>
    <p:sldId xmlns:r="http://schemas.openxmlformats.org/officeDocument/2006/relationships" id="262" r:id="R0094e5ecf32f41a9"/>
    <p:sldId xmlns:r="http://schemas.openxmlformats.org/officeDocument/2006/relationships" id="263" r:id="R4107585260b24cc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3afc972b384283" /><Relationship Type="http://schemas.openxmlformats.org/officeDocument/2006/relationships/slideMaster" Target="/ppt/slideMasters/slideMaster1.xml" Id="Rfadcd359e8174a52" /><Relationship Type="http://schemas.openxmlformats.org/officeDocument/2006/relationships/notesMaster" Target="/ppt/notesMasters/notesMaster1.xml" Id="R7768bc8b93404034" /><Relationship Type="http://schemas.openxmlformats.org/officeDocument/2006/relationships/presProps" Target="/ppt/presProps.xml" Id="R3d0aa3a0ea294e4e" /><Relationship Type="http://schemas.openxmlformats.org/officeDocument/2006/relationships/tableStyles" Target="/ppt/tableStyles.xml" Id="R3eeeae68b0574741" /><Relationship Type="http://schemas.openxmlformats.org/officeDocument/2006/relationships/slide" Target="/ppt/slides/slide1.xml" Id="Reb5214bb79cd49b9" /><Relationship Type="http://schemas.openxmlformats.org/officeDocument/2006/relationships/slide" Target="/ppt/slides/slide2.xml" Id="R71a5febbdae545d4" /><Relationship Type="http://schemas.openxmlformats.org/officeDocument/2006/relationships/slide" Target="/ppt/slides/slide3.xml" Id="Rcbe664d8be934c5e" /><Relationship Type="http://schemas.openxmlformats.org/officeDocument/2006/relationships/slide" Target="/ppt/slides/slide4.xml" Id="R058e1dbd957d4793" /><Relationship Type="http://schemas.openxmlformats.org/officeDocument/2006/relationships/slide" Target="/ppt/slides/slide5.xml" Id="Rfd5b702d1d994e67" /><Relationship Type="http://schemas.openxmlformats.org/officeDocument/2006/relationships/slide" Target="/ppt/slides/slide6.xml" Id="R8f7a08f7bdd94948" /><Relationship Type="http://schemas.openxmlformats.org/officeDocument/2006/relationships/slide" Target="/ppt/slides/slide7.xml" Id="R0094e5ecf32f41a9" /><Relationship Type="http://schemas.openxmlformats.org/officeDocument/2006/relationships/slide" Target="/ppt/slides/slide8.xml" Id="R4107585260b24cc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0c9b776ae94f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69464009444f1d" /><Relationship Type="http://schemas.openxmlformats.org/officeDocument/2006/relationships/notesMaster" Target="/ppt/notesMasters/notesMaster1.xml" Id="Redf11446a70e40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191b15ea74a8d" /><Relationship Type="http://schemas.openxmlformats.org/officeDocument/2006/relationships/notesMaster" Target="/ppt/notesMasters/notesMaster1.xml" Id="R66481827b03047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58200d61d4ea4" /><Relationship Type="http://schemas.openxmlformats.org/officeDocument/2006/relationships/notesMaster" Target="/ppt/notesMasters/notesMaster1.xml" Id="R6c0d8bf871834ae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4e041fd16d4321" /><Relationship Type="http://schemas.openxmlformats.org/officeDocument/2006/relationships/notesMaster" Target="/ppt/notesMasters/notesMaster1.xml" Id="R4e60a29ece5a4d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2c582f4b84945" /><Relationship Type="http://schemas.openxmlformats.org/officeDocument/2006/relationships/notesMaster" Target="/ppt/notesMasters/notesMaster1.xml" Id="Rfc71f894932640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491d95596d491b" /><Relationship Type="http://schemas.openxmlformats.org/officeDocument/2006/relationships/notesMaster" Target="/ppt/notesMasters/notesMaster1.xml" Id="R4793df550c814f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cba5ba6367469a" /><Relationship Type="http://schemas.openxmlformats.org/officeDocument/2006/relationships/notesMaster" Target="/ppt/notesMasters/notesMaster1.xml" Id="Rf22c1e8d6770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a565fa28844e0a" /><Relationship Type="http://schemas.openxmlformats.org/officeDocument/2006/relationships/notesMaster" Target="/ppt/notesMasters/notesMaster1.xml" Id="R94a35c9dcb9540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illustrative sales guidance. Public background references, accessed 2026-10-26:</a:t>
            </a:r>
          </a:p>
          <a:p xmlns:a="http://schemas.openxmlformats.org/drawingml/2006/main">
            <a:r>
              <a:t>EPRI · Utility BESS Handbook</a:t>
            </a:r>
          </a:p>
          <a:p xmlns:a="http://schemas.openxmlformats.org/drawingml/2006/main">
            <a:r>
              <a:t>https://storagewiki.epri.com/index.php/Utility_BESS_Handbook</a:t>
            </a:r>
          </a:p>
          <a:p xmlns:a="http://schemas.openxmlformats.org/drawingml/2006/main">
            <a:r>
              <a:t>DESNZ · Grid scale electrical energy storage systems: health and safety</a:t>
            </a:r>
          </a:p>
          <a:p xmlns:a="http://schemas.openxmlformats.org/drawingml/2006/main">
            <a:r>
              <a:t>https://www.gov.uk/government/publications/grid-scale-electrical-energy-storage-systems-health-and-safety</a:t>
            </a:r>
          </a:p>
          <a:p xmlns:a="http://schemas.openxmlformats.org/drawingml/2006/main">
            <a:r>
              <a:t>Mock scenarios are not company case studies or product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5862ca06cb445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b93f231d6448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182b4784d41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5a3b73210427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66219c6ba4f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87ed8c2bf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98FAB9-2C09-4EA7-A9D1-3D81961185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738CA88-7541-4E79-A58C-2AB676995E8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36C40C1-18FA-4AB0-A09B-A76DDA2FFB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4DA8F6-7985-40C1-859D-CA2729B7A7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E7A2341-42F6-4AEE-9687-B9E0564B5C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8D4FBD0-9FF3-4B5A-9062-501EFD8A7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6267AB4-6F91-4294-8FF1-9B607FCC8B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CBB114-45B1-4401-94BB-9C77640CD3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391087D-C0D1-4F92-B0E2-1F72A95253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94B0DDA-DD83-4A56-9AB5-720EFF5611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ca0e6a02fe4e9f" /><Relationship Type="http://schemas.openxmlformats.org/officeDocument/2006/relationships/slideLayout" Target="/ppt/slideLayouts/slideLayout1.xml" Id="R823a72a0540245f9" /><Relationship Type="http://schemas.openxmlformats.org/officeDocument/2006/relationships/slideLayout" Target="/ppt/slideLayouts/slideLayout2.xml" Id="Rc35cbcf941ea4501" /><Relationship Type="http://schemas.openxmlformats.org/officeDocument/2006/relationships/slideLayout" Target="/ppt/slideLayouts/slideLayout3.xml" Id="R6ed98b0bcf7643a6" /><Relationship Type="http://schemas.openxmlformats.org/officeDocument/2006/relationships/slideLayout" Target="/ppt/slideLayouts/slideLayout4.xml" Id="R54b317dc1c704c45" /><Relationship Type="http://schemas.openxmlformats.org/officeDocument/2006/relationships/slideLayout" Target="/ppt/slideLayouts/slideLayout5.xml" Id="R5f8ca7f4a6f04c72" /><Relationship Type="http://schemas.openxmlformats.org/officeDocument/2006/relationships/slideLayout" Target="/ppt/slideLayouts/slideLayout6.xml" Id="R1b4bd4e50c034d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3a72a0540245f9"/>
    <p:sldLayoutId xmlns:r="http://schemas.openxmlformats.org/officeDocument/2006/relationships" id="2147483650" r:id="Rc35cbcf941ea4501"/>
    <p:sldLayoutId xmlns:r="http://schemas.openxmlformats.org/officeDocument/2006/relationships" id="2147483651" r:id="R6ed98b0bcf7643a6"/>
    <p:sldLayoutId xmlns:r="http://schemas.openxmlformats.org/officeDocument/2006/relationships" id="2147483652" r:id="R54b317dc1c704c45"/>
    <p:sldLayoutId xmlns:r="http://schemas.openxmlformats.org/officeDocument/2006/relationships" id="2147483653" r:id="R5f8ca7f4a6f04c72"/>
    <p:sldLayoutId xmlns:r="http://schemas.openxmlformats.org/officeDocument/2006/relationships" id="2147483654" r:id="R1b4bd4e50c034d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3530f0d1b147a3" /><Relationship Type="http://schemas.openxmlformats.org/officeDocument/2006/relationships/notesSlide" Target="/ppt/notesSlides/notesSlide1.xml" Id="R6e627ca2a58249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f3987c87164577" /><Relationship Type="http://schemas.openxmlformats.org/officeDocument/2006/relationships/notesSlide" Target="/ppt/notesSlides/notesSlide2.xml" Id="R7baf76913037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9820309e1048f8" /><Relationship Type="http://schemas.openxmlformats.org/officeDocument/2006/relationships/notesSlide" Target="/ppt/notesSlides/notesSlide3.xml" Id="R50c373196bdb43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c193fc31b4702" /><Relationship Type="http://schemas.openxmlformats.org/officeDocument/2006/relationships/notesSlide" Target="/ppt/notesSlides/notesSlide4.xml" Id="Rd0536a66144b48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a1361230554aa1" /><Relationship Type="http://schemas.openxmlformats.org/officeDocument/2006/relationships/notesSlide" Target="/ppt/notesSlides/notesSlide5.xml" Id="R73a92ee95dc942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ae08482805448d" /><Relationship Type="http://schemas.openxmlformats.org/officeDocument/2006/relationships/notesSlide" Target="/ppt/notesSlides/notesSlide6.xml" Id="Rd3c6a63c1abf446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1a1b28c1749c3" /><Relationship Type="http://schemas.openxmlformats.org/officeDocument/2006/relationships/notesSlide" Target="/ppt/notesSlides/notesSlide7.xml" Id="R29131259af3b4e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ec0b481dd641b4" /><Relationship Type="http://schemas.openxmlformats.org/officeDocument/2006/relationships/notesSlide" Target="/ppt/notesSlides/notesSlide8.xml" Id="R56b2e72b5bde45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NERGY STORAGE · MEETING BRIEF">
            <a:extLst xmlns:a="http://schemas.openxmlformats.org/drawingml/2006/main">
              <a:ext uri="{FF2B5EF4-FFF2-40B4-BE49-F238E27FC236}">
                <a16:creationId xmlns:a16="http://schemas.microsoft.com/office/drawing/2014/main" id="{B4F4A01A-7276-4EF6-AD1E-689077AD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A6B9F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B9FC"/>
                </a:solidFill>
                <a:latin typeface="Arial"/>
                <a:ea typeface="Arial"/>
                <a:cs typeface="Arial"/>
              </a:rPr>
              <a:t>ENERGY STORAGE · MEETING BRIEF</a:t>
            </a:r>
          </a:p>
        </p:txBody>
      </p:sp>
      <p:sp>
        <p:nvSpPr>
          <p:cNvPr id="2" name="Delivery readiness and coordination">
            <a:extLst xmlns:a="http://schemas.openxmlformats.org/drawingml/2006/main">
              <a:ext uri="{FF2B5EF4-FFF2-40B4-BE49-F238E27FC236}">
                <a16:creationId xmlns:a16="http://schemas.microsoft.com/office/drawing/2014/main" id="{40152808-64BB-4002-AA7F-EE31DCB8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Delivery readiness and coordination</a:t>
            </a:r>
          </a:p>
        </p:txBody>
      </p:sp>
      <p:sp>
        <p:nvSpPr>
          <p:cNvPr id="3" name="Customer meeting reference material">
            <a:extLst xmlns:a="http://schemas.openxmlformats.org/drawingml/2006/main">
              <a:ext uri="{FF2B5EF4-FFF2-40B4-BE49-F238E27FC236}">
                <a16:creationId xmlns:a16="http://schemas.microsoft.com/office/drawing/2014/main" id="{D9491121-7B20-4352-8316-8D73A3D9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Customer meeting reference material</a:t>
            </a:r>
          </a:p>
        </p:txBody>
      </p:sp>
      <p:sp>
        <p:nvSpPr>
          <p:cNvPr id="4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8A424E64-C727-4002-92E1-42005D6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5" name="1">
            <a:extLst xmlns:a="http://schemas.openxmlformats.org/drawingml/2006/main">
              <a:ext uri="{FF2B5EF4-FFF2-40B4-BE49-F238E27FC236}">
                <a16:creationId xmlns:a16="http://schemas.microsoft.com/office/drawing/2014/main" id="{428277B1-6085-40BA-AC10-3F5921F4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FCB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FCBE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83979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693ED596-95F8-492B-A6E3-9D04289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elivery scope">
            <a:extLst xmlns:a="http://schemas.openxmlformats.org/drawingml/2006/main">
              <a:ext uri="{FF2B5EF4-FFF2-40B4-BE49-F238E27FC236}">
                <a16:creationId xmlns:a16="http://schemas.microsoft.com/office/drawing/2014/main" id="{BBB6D760-1438-4989-8C7D-A59A1AB1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Delivery scope</a:t>
            </a:r>
          </a:p>
        </p:txBody>
      </p:sp>
      <p:sp>
        <p:nvSpPr>
          <p:cNvPr id="3" name="• Review the agreed contract and te">
            <a:extLst xmlns:a="http://schemas.openxmlformats.org/drawingml/2006/main">
              <a:ext uri="{FF2B5EF4-FFF2-40B4-BE49-F238E27FC236}">
                <a16:creationId xmlns:a16="http://schemas.microsoft.com/office/drawing/2014/main" id="{268E4CD1-54F8-406C-BFB7-BAD3E261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Review the agreed contract and technical scope</a:t>
            </a:r>
          </a:p>
        </p:txBody>
      </p:sp>
      <p:sp>
        <p:nvSpPr>
          <p:cNvPr id="4" name="• Identify customer supplied work">
            <a:extLst xmlns:a="http://schemas.openxmlformats.org/drawingml/2006/main">
              <a:ext uri="{FF2B5EF4-FFF2-40B4-BE49-F238E27FC236}">
                <a16:creationId xmlns:a16="http://schemas.microsoft.com/office/drawing/2014/main" id="{246FFA8D-C46E-4E6F-9A8A-E3602ABE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customer supplied work</a:t>
            </a:r>
          </a:p>
        </p:txBody>
      </p:sp>
      <p:sp>
        <p:nvSpPr>
          <p:cNvPr id="5" name="• Keep unresolved commitments in th">
            <a:extLst xmlns:a="http://schemas.openxmlformats.org/drawingml/2006/main">
              <a:ext uri="{FF2B5EF4-FFF2-40B4-BE49-F238E27FC236}">
                <a16:creationId xmlns:a16="http://schemas.microsoft.com/office/drawing/2014/main" id="{66805917-5532-4F92-848B-0DEC429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Keep unresolved commitments in the handover log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B5A1C022-C9C6-44BA-A316-FAD2B3C6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2">
            <a:extLst xmlns:a="http://schemas.openxmlformats.org/drawingml/2006/main">
              <a:ext uri="{FF2B5EF4-FFF2-40B4-BE49-F238E27FC236}">
                <a16:creationId xmlns:a16="http://schemas.microsoft.com/office/drawing/2014/main" id="{87E0834B-2C56-4117-90D6-D2B134FB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8332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692EC90-B4C2-4F5D-82ED-871F9102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Roles and coordination">
            <a:extLst xmlns:a="http://schemas.openxmlformats.org/drawingml/2006/main">
              <a:ext uri="{FF2B5EF4-FFF2-40B4-BE49-F238E27FC236}">
                <a16:creationId xmlns:a16="http://schemas.microsoft.com/office/drawing/2014/main" id="{D49650D7-0CF1-4500-ADE2-4644CA16D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Roles and coordination</a:t>
            </a:r>
          </a:p>
        </p:txBody>
      </p:sp>
      <p:sp>
        <p:nvSpPr>
          <p:cNvPr id="3" name="• Name the customer and supplier pr">
            <a:extLst xmlns:a="http://schemas.openxmlformats.org/drawingml/2006/main">
              <a:ext uri="{FF2B5EF4-FFF2-40B4-BE49-F238E27FC236}">
                <a16:creationId xmlns:a16="http://schemas.microsoft.com/office/drawing/2014/main" id="{260980BE-E90C-4C6A-8A24-4960F280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Name the customer and supplier project contacts</a:t>
            </a:r>
          </a:p>
        </p:txBody>
      </p:sp>
      <p:sp>
        <p:nvSpPr>
          <p:cNvPr id="4" name="• Assign responsibility for each in">
            <a:extLst xmlns:a="http://schemas.openxmlformats.org/drawingml/2006/main">
              <a:ext uri="{FF2B5EF4-FFF2-40B4-BE49-F238E27FC236}">
                <a16:creationId xmlns:a16="http://schemas.microsoft.com/office/drawing/2014/main" id="{7F7FD728-8220-4367-8394-55AE28E4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Assign responsibility for each interface</a:t>
            </a:r>
          </a:p>
        </p:txBody>
      </p:sp>
      <p:sp>
        <p:nvSpPr>
          <p:cNvPr id="5" name="• Agree an escalation route">
            <a:extLst xmlns:a="http://schemas.openxmlformats.org/drawingml/2006/main">
              <a:ext uri="{FF2B5EF4-FFF2-40B4-BE49-F238E27FC236}">
                <a16:creationId xmlns:a16="http://schemas.microsoft.com/office/drawing/2014/main" id="{64637EED-D805-47BD-BF48-854433D8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an escalation route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05120C12-E577-415B-989C-5A84EA87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3">
            <a:extLst xmlns:a="http://schemas.openxmlformats.org/drawingml/2006/main">
              <a:ext uri="{FF2B5EF4-FFF2-40B4-BE49-F238E27FC236}">
                <a16:creationId xmlns:a16="http://schemas.microsoft.com/office/drawing/2014/main" id="{93A71153-F9D2-4BFE-8B9D-BE05F183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026280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2E4C5884-3112-46A5-8D14-A74EB14E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Milestones and dependencies">
            <a:extLst xmlns:a="http://schemas.openxmlformats.org/drawingml/2006/main">
              <a:ext uri="{FF2B5EF4-FFF2-40B4-BE49-F238E27FC236}">
                <a16:creationId xmlns:a16="http://schemas.microsoft.com/office/drawing/2014/main" id="{F568F026-80A0-415E-B0A7-04218E00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Milestones and dependencies</a:t>
            </a:r>
          </a:p>
        </p:txBody>
      </p:sp>
      <p:sp>
        <p:nvSpPr>
          <p:cNvPr id="3" name="Discussion focus">
            <a:extLst xmlns:a="http://schemas.openxmlformats.org/drawingml/2006/main">
              <a:ext uri="{FF2B5EF4-FFF2-40B4-BE49-F238E27FC236}">
                <a16:creationId xmlns:a16="http://schemas.microsoft.com/office/drawing/2014/main" id="{B6AB94C7-3468-4673-8EED-5687ABE7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focus</a:t>
            </a:r>
          </a:p>
        </p:txBody>
      </p:sp>
      <p:sp>
        <p:nvSpPr>
          <p:cNvPr id="4" name="• Map design, site readiness and de">
            <a:extLst xmlns:a="http://schemas.openxmlformats.org/drawingml/2006/main">
              <a:ext uri="{FF2B5EF4-FFF2-40B4-BE49-F238E27FC236}">
                <a16:creationId xmlns:a16="http://schemas.microsoft.com/office/drawing/2014/main" id="{5D33A33B-A802-49B8-A214-A3713216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Map design, site readiness and delivery milestones</a:t>
            </a:r>
          </a:p>
        </p:txBody>
      </p:sp>
      <p:sp>
        <p:nvSpPr>
          <p:cNvPr id="5" name="• Identify approvals and informatio">
            <a:extLst xmlns:a="http://schemas.openxmlformats.org/drawingml/2006/main">
              <a:ext uri="{FF2B5EF4-FFF2-40B4-BE49-F238E27FC236}">
                <a16:creationId xmlns:a16="http://schemas.microsoft.com/office/drawing/2014/main" id="{F0080D50-1D9B-41F5-A145-78E5B79C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Identify approvals and information dependencies</a:t>
            </a:r>
          </a:p>
        </p:txBody>
      </p:sp>
      <p:sp>
        <p:nvSpPr>
          <p:cNvPr id="6" name="Customer confirmation">
            <a:extLst xmlns:a="http://schemas.openxmlformats.org/drawingml/2006/main">
              <a:ext uri="{FF2B5EF4-FFF2-40B4-BE49-F238E27FC236}">
                <a16:creationId xmlns:a16="http://schemas.microsoft.com/office/drawing/2014/main" id="{F6B84562-9C9E-4DE7-99C2-35D5B31D4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575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Customer confirmation</a:t>
            </a:r>
          </a:p>
        </p:txBody>
      </p:sp>
      <p:sp>
        <p:nvSpPr>
          <p:cNvPr id="7" name="• Use confirmed plans rather than a">
            <a:extLst xmlns:a="http://schemas.openxmlformats.org/drawingml/2006/main">
              <a:ext uri="{FF2B5EF4-FFF2-40B4-BE49-F238E27FC236}">
                <a16:creationId xmlns:a16="http://schemas.microsoft.com/office/drawing/2014/main" id="{477F84CC-E5DB-42B8-9A40-745BFA85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766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Use confirmed plans rather than assumed dates</a:t>
            </a:r>
          </a:p>
        </p:txBody>
      </p:sp>
      <p:sp>
        <p:nvSpPr>
          <p:cNvPr id="8" name="• Record unresolved items and owner">
            <a:extLst xmlns:a="http://schemas.openxmlformats.org/drawingml/2006/main">
              <a:ext uri="{FF2B5EF4-FFF2-40B4-BE49-F238E27FC236}">
                <a16:creationId xmlns:a16="http://schemas.microsoft.com/office/drawing/2014/main" id="{3C8CA56E-32AE-400E-8380-F8C33FC1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48125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unresolved items and owners</a:t>
            </a:r>
          </a:p>
        </p:txBody>
      </p:sp>
      <p:sp>
        <p:nvSpPr>
          <p:cNvPr id="9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B545FAED-D522-449A-BD09-32C0F955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10" name="4">
            <a:extLst xmlns:a="http://schemas.openxmlformats.org/drawingml/2006/main">
              <a:ext uri="{FF2B5EF4-FFF2-40B4-BE49-F238E27FC236}">
                <a16:creationId xmlns:a16="http://schemas.microsoft.com/office/drawing/2014/main" id="{D26D5288-E947-4227-8437-5FCDAD09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43534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FA38E03-BE1B-44F6-B683-C2808F23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Testing and acceptance">
            <a:extLst xmlns:a="http://schemas.openxmlformats.org/drawingml/2006/main">
              <a:ext uri="{FF2B5EF4-FFF2-40B4-BE49-F238E27FC236}">
                <a16:creationId xmlns:a16="http://schemas.microsoft.com/office/drawing/2014/main" id="{BABEBF9F-9390-44A3-BAC8-273DEF71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Testing and acceptance</a:t>
            </a:r>
          </a:p>
        </p:txBody>
      </p:sp>
      <p:sp>
        <p:nvSpPr>
          <p:cNvPr id="3" name="• Agree applicable factory and site">
            <a:extLst xmlns:a="http://schemas.openxmlformats.org/drawingml/2006/main">
              <a:ext uri="{FF2B5EF4-FFF2-40B4-BE49-F238E27FC236}">
                <a16:creationId xmlns:a16="http://schemas.microsoft.com/office/drawing/2014/main" id="{5441B385-7577-49DF-BE30-40C9888B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applicable factory and site tests</a:t>
            </a:r>
          </a:p>
        </p:txBody>
      </p:sp>
      <p:sp>
        <p:nvSpPr>
          <p:cNvPr id="4" name="• Define evidence and acceptance co">
            <a:extLst xmlns:a="http://schemas.openxmlformats.org/drawingml/2006/main">
              <a:ext uri="{FF2B5EF4-FFF2-40B4-BE49-F238E27FC236}">
                <a16:creationId xmlns:a16="http://schemas.microsoft.com/office/drawing/2014/main" id="{BE518685-5023-46B1-8504-29A3DC1A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Define evidence and acceptance conditions</a:t>
            </a:r>
          </a:p>
        </p:txBody>
      </p:sp>
      <p:sp>
        <p:nvSpPr>
          <p:cNvPr id="5" name="• Track exceptions and open items">
            <a:extLst xmlns:a="http://schemas.openxmlformats.org/drawingml/2006/main">
              <a:ext uri="{FF2B5EF4-FFF2-40B4-BE49-F238E27FC236}">
                <a16:creationId xmlns:a16="http://schemas.microsoft.com/office/drawing/2014/main" id="{D7B93275-FC47-4EC3-B889-2610AACC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Track exceptions and open items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7E2888B-0761-46D7-9596-231654D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5">
            <a:extLst xmlns:a="http://schemas.openxmlformats.org/drawingml/2006/main">
              <a:ext uri="{FF2B5EF4-FFF2-40B4-BE49-F238E27FC236}">
                <a16:creationId xmlns:a16="http://schemas.microsoft.com/office/drawing/2014/main" id="{AD174E5F-A28F-4CF4-839E-19E8AB0D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08452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4ED4CCB8-8E29-44A9-9AFF-D246484D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Change management">
            <a:extLst xmlns:a="http://schemas.openxmlformats.org/drawingml/2006/main">
              <a:ext uri="{FF2B5EF4-FFF2-40B4-BE49-F238E27FC236}">
                <a16:creationId xmlns:a16="http://schemas.microsoft.com/office/drawing/2014/main" id="{8687E666-7566-4A99-A16A-9C84966F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Change management</a:t>
            </a:r>
          </a:p>
        </p:txBody>
      </p:sp>
      <p:sp>
        <p:nvSpPr>
          <p:cNvPr id="3" name="• Record requested scope changes">
            <a:extLst xmlns:a="http://schemas.openxmlformats.org/drawingml/2006/main">
              <a:ext uri="{FF2B5EF4-FFF2-40B4-BE49-F238E27FC236}">
                <a16:creationId xmlns:a16="http://schemas.microsoft.com/office/drawing/2014/main" id="{94820ED4-6101-4BB0-8CE1-6EA22DFC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Record requested scope changes</a:t>
            </a:r>
          </a:p>
        </p:txBody>
      </p:sp>
      <p:sp>
        <p:nvSpPr>
          <p:cNvPr id="4" name="• Assess technical and commercial i">
            <a:extLst xmlns:a="http://schemas.openxmlformats.org/drawingml/2006/main">
              <a:ext uri="{FF2B5EF4-FFF2-40B4-BE49-F238E27FC236}">
                <a16:creationId xmlns:a16="http://schemas.microsoft.com/office/drawing/2014/main" id="{F77D63FD-4661-4A79-9935-89E29E8F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Assess technical and commercial impact</a:t>
            </a:r>
          </a:p>
        </p:txBody>
      </p:sp>
      <p:sp>
        <p:nvSpPr>
          <p:cNvPr id="5" name="• Confirm changes through the agree">
            <a:extLst xmlns:a="http://schemas.openxmlformats.org/drawingml/2006/main">
              <a:ext uri="{FF2B5EF4-FFF2-40B4-BE49-F238E27FC236}">
                <a16:creationId xmlns:a16="http://schemas.microsoft.com/office/drawing/2014/main" id="{EFF020D5-FF9A-4CFE-87F6-3A4BE179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changes through the agreed process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40B129F5-FB20-46AD-89A2-191B5F5B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6">
            <a:extLst xmlns:a="http://schemas.openxmlformats.org/drawingml/2006/main">
              <a:ext uri="{FF2B5EF4-FFF2-40B4-BE49-F238E27FC236}">
                <a16:creationId xmlns:a16="http://schemas.microsoft.com/office/drawing/2014/main" id="{9599B716-EADD-44F6-83CB-AFC6FCA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1694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105E4019-D398-494F-B871-3B30656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Kickoff decisions">
            <a:extLst xmlns:a="http://schemas.openxmlformats.org/drawingml/2006/main">
              <a:ext uri="{FF2B5EF4-FFF2-40B4-BE49-F238E27FC236}">
                <a16:creationId xmlns:a16="http://schemas.microsoft.com/office/drawing/2014/main" id="{0597F30B-458C-4D13-9AD4-FF9E8A8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Kickoff decisions</a:t>
            </a:r>
          </a:p>
        </p:txBody>
      </p:sp>
      <p:sp>
        <p:nvSpPr>
          <p:cNvPr id="3" name="• Which site conditions are still p">
            <a:extLst xmlns:a="http://schemas.openxmlformats.org/drawingml/2006/main">
              <a:ext uri="{FF2B5EF4-FFF2-40B4-BE49-F238E27FC236}">
                <a16:creationId xmlns:a16="http://schemas.microsoft.com/office/drawing/2014/main" id="{EA1C4C5A-AA57-4952-AACA-F0A7498F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Which site conditions are still pending?</a:t>
            </a:r>
          </a:p>
        </p:txBody>
      </p:sp>
      <p:sp>
        <p:nvSpPr>
          <p:cNvPr id="4" name="• Who owns each dependency?">
            <a:extLst xmlns:a="http://schemas.openxmlformats.org/drawingml/2006/main">
              <a:ext uri="{FF2B5EF4-FFF2-40B4-BE49-F238E27FC236}">
                <a16:creationId xmlns:a16="http://schemas.microsoft.com/office/drawing/2014/main" id="{E1DE5565-8450-4195-85DF-484EF702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Who owns each dependency?</a:t>
            </a:r>
          </a:p>
        </p:txBody>
      </p:sp>
      <p:sp>
        <p:nvSpPr>
          <p:cNvPr id="5" name="• What will be reviewed at the next">
            <a:extLst xmlns:a="http://schemas.openxmlformats.org/drawingml/2006/main">
              <a:ext uri="{FF2B5EF4-FFF2-40B4-BE49-F238E27FC236}">
                <a16:creationId xmlns:a16="http://schemas.microsoft.com/office/drawing/2014/main" id="{0FFFA5AD-3352-4C12-B177-61912F30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What will be reviewed at the next project meeting?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4B89279-AA25-4A8F-930D-43684E69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7">
            <a:extLst xmlns:a="http://schemas.openxmlformats.org/drawingml/2006/main">
              <a:ext uri="{FF2B5EF4-FFF2-40B4-BE49-F238E27FC236}">
                <a16:creationId xmlns:a16="http://schemas.microsoft.com/office/drawing/2014/main" id="{172E5B42-6159-45D6-82BE-31F59E03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111911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NERGY STORAGE">
            <a:extLst xmlns:a="http://schemas.openxmlformats.org/drawingml/2006/main">
              <a:ext uri="{FF2B5EF4-FFF2-40B4-BE49-F238E27FC236}">
                <a16:creationId xmlns:a16="http://schemas.microsoft.com/office/drawing/2014/main" id="{B7AB6A2E-71A1-4FB0-8D5F-66D5E87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4F6CF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6CF7"/>
                </a:solidFill>
                <a:latin typeface="Arial"/>
                <a:ea typeface="Arial"/>
                <a:cs typeface="Arial"/>
              </a:rPr>
              <a:t>ENERGY STORAGE</a:t>
            </a:r>
          </a:p>
        </p:txBody>
      </p:sp>
      <p:sp>
        <p:nvSpPr>
          <p:cNvPr id="2" name="Discussion and next steps">
            <a:extLst xmlns:a="http://schemas.openxmlformats.org/drawingml/2006/main">
              <a:ext uri="{FF2B5EF4-FFF2-40B4-BE49-F238E27FC236}">
                <a16:creationId xmlns:a16="http://schemas.microsoft.com/office/drawing/2014/main" id="{1091B12F-0579-432F-A61E-4E54EB3F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234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345"/>
                </a:solidFill>
                <a:latin typeface="Arial"/>
                <a:ea typeface="Arial"/>
                <a:cs typeface="Arial"/>
              </a:rPr>
              <a:t>Discussion and next steps</a:t>
            </a:r>
          </a:p>
        </p:txBody>
      </p:sp>
      <p:sp>
        <p:nvSpPr>
          <p:cNvPr id="3" name="• Confirm the customer priorities">
            <a:extLst xmlns:a="http://schemas.openxmlformats.org/drawingml/2006/main">
              <a:ext uri="{FF2B5EF4-FFF2-40B4-BE49-F238E27FC236}">
                <a16:creationId xmlns:a16="http://schemas.microsoft.com/office/drawing/2014/main" id="{D78C17DD-EDA6-46FF-8561-AFA4E171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Confirm the customer priorities</a:t>
            </a:r>
          </a:p>
        </p:txBody>
      </p:sp>
      <p:sp>
        <p:nvSpPr>
          <p:cNvPr id="4" name="• Agree owners for open questions">
            <a:extLst xmlns:a="http://schemas.openxmlformats.org/drawingml/2006/main">
              <a:ext uri="{FF2B5EF4-FFF2-40B4-BE49-F238E27FC236}">
                <a16:creationId xmlns:a16="http://schemas.microsoft.com/office/drawing/2014/main" id="{62C0C45A-71C8-4E2B-853D-A869E8D6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Agree owners for open questions</a:t>
            </a:r>
          </a:p>
        </p:txBody>
      </p:sp>
      <p:sp>
        <p:nvSpPr>
          <p:cNvPr id="5" name="• Set the next review milestone">
            <a:extLst xmlns:a="http://schemas.openxmlformats.org/drawingml/2006/main">
              <a:ext uri="{FF2B5EF4-FFF2-40B4-BE49-F238E27FC236}">
                <a16:creationId xmlns:a16="http://schemas.microsoft.com/office/drawing/2014/main" id="{229A5308-1B3D-461F-9A03-A5F60A49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• Set the next review milestone</a:t>
            </a:r>
          </a:p>
        </p:txBody>
      </p:sp>
      <p:sp>
        <p:nvSpPr>
          <p:cNvPr id="6" name="MOCK · Illustrative guidance, not a">
            <a:extLst xmlns:a="http://schemas.openxmlformats.org/drawingml/2006/main">
              <a:ext uri="{FF2B5EF4-FFF2-40B4-BE49-F238E27FC236}">
                <a16:creationId xmlns:a16="http://schemas.microsoft.com/office/drawing/2014/main" id="{FA497F5A-141E-4377-93E9-43642FBE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34125"/>
            <a:ext cx="1028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MOCK · Illustrative guidance, not a supplier commitment</a:t>
            </a:r>
          </a:p>
        </p:txBody>
      </p:sp>
      <p:sp>
        <p:nvSpPr>
          <p:cNvPr id="7" name="8">
            <a:extLst xmlns:a="http://schemas.openxmlformats.org/drawingml/2006/main">
              <a:ext uri="{FF2B5EF4-FFF2-40B4-BE49-F238E27FC236}">
                <a16:creationId xmlns:a16="http://schemas.microsoft.com/office/drawing/2014/main" id="{945C169E-15B6-42F7-93C0-7CE88785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476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2708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08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19785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2026-10-25T17:21:24.0710000Z</dcterms:created>
  <dcterms:modified xsi:type="dcterms:W3CDTF">2026-10-25T17:21:24.0710000Z</dcterms:modified>
</coreProperties>
</file>